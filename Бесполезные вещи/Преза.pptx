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8.jpeg" ContentType="image/jpeg"/>
  <Override PartName="/ppt/media/image7.png" ContentType="image/png"/>
  <Override PartName="/ppt/media/image9.jpeg" ContentType="image/jpeg"/>
  <Override PartName="/ppt/media/image10.jpeg" ContentType="image/jpe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hdphoto1.wdp" ContentType="image/vnd.ms-photo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</p:sld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</p:sldIdLst>
  <p:sldSz cx="24382413" cy="13716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98520" y="7890840"/>
            <a:ext cx="99522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1CC731-DEED-4131-9C91-EF0C1EAA58E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84473E-F8CE-429C-B622-EBB3D70FBE7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0B329CD-71F1-44F0-B366-09C124C8FB1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0D1A78B-D6DF-4D21-BA38-0D1E40EAEA1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5117D13-8FF9-40C4-A622-D2E83E3ED25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6A2B0AF-71DA-49A4-8816-00D212F5751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B1E9B40-EBD6-4DCF-A21C-6093EE501B71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D689125-9BE9-46DC-8DE6-C645F456A0E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973DF36-D671-418D-BF37-36D1B34DA85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ключитель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8520" y="7890840"/>
            <a:ext cx="99522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или гл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или глав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F1BB677-CA7E-49E1-A365-770A31EF0A75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95940790-6A03-4AF2-A123-1847A927604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95DCB1B-97F5-45F2-9384-28525181DD47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B6F62C4-4C43-41E7-B6E4-DB3AE51D527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8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1.png"/><Relationship Id="rId8" Type="http://schemas.openxmlformats.org/officeDocument/2006/relationships/image" Target="../media/image11.png"/><Relationship Id="rId9" Type="http://schemas.openxmlformats.org/officeDocument/2006/relationships/image" Target="../media/image11.png"/><Relationship Id="rId10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98520" y="5185800"/>
            <a:ext cx="9952200" cy="385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dk2"/>
                </a:solidFill>
                <a:uFillTx/>
                <a:latin typeface="Tahoma"/>
              </a:rPr>
              <a:t>Заголовок презентации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5600" strike="noStrike" u="none">
                <a:solidFill>
                  <a:schemeClr val="dk1"/>
                </a:solidFill>
                <a:uFillTx/>
                <a:latin typeface="Tahoma"/>
              </a:rPr>
              <a:t>Для правки структуры щёлкните мышью</a:t>
            </a:r>
            <a:endParaRPr b="0" lang="ru-RU" sz="56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000" strike="noStrike" u="none">
                <a:solidFill>
                  <a:schemeClr val="dk1"/>
                </a:solidFill>
                <a:uFillTx/>
                <a:latin typeface="Tahoma"/>
              </a:rPr>
              <a:t>Второй уровень структуры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600" strike="noStrike" u="none">
                <a:solidFill>
                  <a:schemeClr val="dk1"/>
                </a:solidFill>
                <a:uFillTx/>
                <a:latin typeface="Tahoma"/>
              </a:rPr>
              <a:t>Третий уровень структуры</a:t>
            </a: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600" strike="noStrike" u="none">
                <a:solidFill>
                  <a:schemeClr val="dk1"/>
                </a:solidFill>
                <a:uFillTx/>
                <a:latin typeface="Tahoma"/>
              </a:rPr>
              <a:t>Четвёртый уровень структуры</a:t>
            </a: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6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98520" y="7924680"/>
            <a:ext cx="6936480" cy="379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с целью создания и освоения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новых технологий, становления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 развития научных школ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338120" y="7037640"/>
            <a:ext cx="68965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Достижения науки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C701201D-1523-4DD3-8BAF-8EE23BED3B9B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7"/>
          <p:cNvSpPr>
            <a:spLocks noGrp="1"/>
          </p:cNvSpPr>
          <p:nvPr>
            <p:ph type="body"/>
          </p:nvPr>
        </p:nvSpPr>
        <p:spPr>
          <a:xfrm>
            <a:off x="8674200" y="7037640"/>
            <a:ext cx="693684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Научное сообщество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body"/>
          </p:nvPr>
        </p:nvSpPr>
        <p:spPr>
          <a:xfrm>
            <a:off x="16054560" y="7037640"/>
            <a:ext cx="693684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События отрасли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6" name="PlaceHolder 9"/>
          <p:cNvSpPr>
            <a:spLocks noGrp="1"/>
          </p:cNvSpPr>
          <p:nvPr>
            <p:ph type="body"/>
          </p:nvPr>
        </p:nvSpPr>
        <p:spPr>
          <a:xfrm>
            <a:off x="8674200" y="7924680"/>
            <a:ext cx="6936480" cy="379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 целом, способствует правовой охране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7" name="PlaceHolder 10"/>
          <p:cNvSpPr>
            <a:spLocks noGrp="1"/>
          </p:cNvSpPr>
          <p:nvPr>
            <p:ph type="body"/>
          </p:nvPr>
        </p:nvSpPr>
        <p:spPr>
          <a:xfrm>
            <a:off x="16054920" y="7924680"/>
            <a:ext cx="6936480" cy="379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Информация о реализуемых образовательных программах,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 том числе о реализуемых адаптированных образователь-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ных программах, с указанием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 отношении каждой образо-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вательной программы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18" name="Рисунок 2" descr=""/>
          <p:cNvPicPr/>
          <p:nvPr/>
        </p:nvPicPr>
        <p:blipFill>
          <a:blip r:embed="rId4"/>
          <a:stretch/>
        </p:blipFill>
        <p:spPr>
          <a:xfrm>
            <a:off x="1390680" y="4776120"/>
            <a:ext cx="2217240" cy="183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Рисунок 3" descr=""/>
          <p:cNvPicPr/>
          <p:nvPr/>
        </p:nvPicPr>
        <p:blipFill>
          <a:blip r:embed="rId5"/>
          <a:stretch/>
        </p:blipFill>
        <p:spPr>
          <a:xfrm>
            <a:off x="8762400" y="4599720"/>
            <a:ext cx="1763640" cy="20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Рисунок 5" descr=""/>
          <p:cNvPicPr/>
          <p:nvPr/>
        </p:nvPicPr>
        <p:blipFill>
          <a:blip r:embed="rId6"/>
          <a:stretch/>
        </p:blipFill>
        <p:spPr>
          <a:xfrm>
            <a:off x="16116480" y="4401720"/>
            <a:ext cx="1924200" cy="2213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7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6"/>
          <p:cNvSpPr/>
          <p:nvPr/>
        </p:nvSpPr>
        <p:spPr>
          <a:xfrm>
            <a:off x="12442680" y="4707720"/>
            <a:ext cx="11939400" cy="571248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23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97800" y="4572720"/>
            <a:ext cx="10627200" cy="76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T Norms Pro Medium"/>
              </a:rPr>
              <a:t>Lorem Ipsum is simply dummy text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T Norms Pro Medium"/>
              </a:rPr>
              <a:t>of the printing and typesetting industry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T Norms Pro Medium"/>
              </a:rPr>
              <a:t>Lorem Ipsum has been the industry's standard dummy text ever since the 1500s, when an unknown printer took a galley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T Norms Pro Medium"/>
              </a:rPr>
              <a:t>of type and scrambled it to make a type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T Norms Pro Medium"/>
              </a:rPr>
              <a:t>specimen book. It has survived not only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T Norms Pro Medium"/>
              </a:rPr>
              <a:t>five centuries, but also the leap into electronic typesetting, remaining essentially unchanged. It was popularised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4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5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9C23F249-5810-49A5-AB9D-1A8BED0E03F2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8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6"/>
          <p:cNvSpPr>
            <a:spLocks noGrp="1"/>
          </p:cNvSpPr>
          <p:nvPr>
            <p:ph type="body"/>
          </p:nvPr>
        </p:nvSpPr>
        <p:spPr>
          <a:xfrm>
            <a:off x="16035480" y="5373000"/>
            <a:ext cx="6936840" cy="11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7300" strike="noStrike" u="none">
                <a:solidFill>
                  <a:schemeClr val="lt2"/>
                </a:solidFill>
                <a:uFillTx/>
                <a:latin typeface="Tahoma"/>
              </a:rPr>
              <a:t>1-е место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31" name="PlaceHolder 7"/>
          <p:cNvSpPr>
            <a:spLocks noGrp="1"/>
          </p:cNvSpPr>
          <p:nvPr>
            <p:ph type="body"/>
          </p:nvPr>
        </p:nvSpPr>
        <p:spPr>
          <a:xfrm>
            <a:off x="16035840" y="6648480"/>
            <a:ext cx="6936480" cy="331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2"/>
                </a:solidFill>
                <a:uFillTx/>
                <a:latin typeface="TT Norms Pro"/>
              </a:rPr>
              <a:t>cреди вузов Проекта 5–100 </a:t>
            </a:r>
            <a:br>
              <a:rPr sz="4000"/>
            </a:br>
            <a:r>
              <a:rPr b="0" lang="ru-RU" sz="4000" strike="noStrike" u="none">
                <a:solidFill>
                  <a:schemeClr val="lt2"/>
                </a:solidFill>
                <a:uFillTx/>
                <a:latin typeface="TT Norms Pro"/>
              </a:rPr>
              <a:t>по количеству публикаций </a:t>
            </a:r>
            <a:br>
              <a:rPr sz="4000"/>
            </a:br>
            <a:r>
              <a:rPr b="0" lang="ru-RU" sz="4000" strike="noStrike" u="none">
                <a:solidFill>
                  <a:schemeClr val="lt2"/>
                </a:solidFill>
                <a:uFillTx/>
                <a:latin typeface="TT Norms Pro"/>
              </a:rPr>
              <a:t>в материаловедении </a:t>
            </a:r>
            <a:br>
              <a:rPr sz="4000"/>
            </a:br>
            <a:r>
              <a:rPr b="0" lang="ru-RU" sz="4000" strike="noStrike" u="none">
                <a:solidFill>
                  <a:schemeClr val="lt2"/>
                </a:solidFill>
                <a:uFillTx/>
                <a:latin typeface="TT Norms Pro"/>
              </a:rPr>
              <a:t>в журналах первого квартиля по SNIP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32" name="Рисунок 9" descr=""/>
          <p:cNvPicPr/>
          <p:nvPr/>
        </p:nvPicPr>
        <p:blipFill>
          <a:blip r:embed="rId4"/>
          <a:stretch/>
        </p:blipFill>
        <p:spPr>
          <a:xfrm>
            <a:off x="13193280" y="5430240"/>
            <a:ext cx="2166840" cy="18126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25"/>
          <p:cNvSpPr/>
          <p:nvPr/>
        </p:nvSpPr>
        <p:spPr>
          <a:xfrm>
            <a:off x="0" y="4707720"/>
            <a:ext cx="24382080" cy="736956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35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297800" y="6553080"/>
            <a:ext cx="1062720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Lorem Ipsum is simply dummy text </a:t>
            </a:r>
            <a:br>
              <a:rPr sz="4000"/>
            </a:b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of the printing and typesetting industry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Lorem Ipsum is simply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6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7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47676E0F-5130-4932-8562-CA1144645344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40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1297800" y="5646600"/>
            <a:ext cx="10627200" cy="10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2"/>
                </a:solidFill>
                <a:uFillTx/>
                <a:latin typeface="TT Norms Pro Medium"/>
              </a:rPr>
              <a:t>Lorem Ipsum Lorem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1297800" y="9692640"/>
            <a:ext cx="1062720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Lorem Ipsum is simply dummy text </a:t>
            </a:r>
            <a:br>
              <a:rPr sz="4000"/>
            </a:b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of the printing and typesetting industry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body"/>
          </p:nvPr>
        </p:nvSpPr>
        <p:spPr>
          <a:xfrm>
            <a:off x="1297800" y="8786160"/>
            <a:ext cx="10627200" cy="10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2"/>
                </a:solidFill>
                <a:uFillTx/>
                <a:latin typeface="TT Norms Pro Medium"/>
              </a:rPr>
              <a:t>Lorem Ipsum Lorem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45" name="PlaceHolder 9"/>
          <p:cNvSpPr>
            <a:spLocks noGrp="1"/>
          </p:cNvSpPr>
          <p:nvPr>
            <p:ph type="body"/>
          </p:nvPr>
        </p:nvSpPr>
        <p:spPr>
          <a:xfrm>
            <a:off x="12364200" y="6553080"/>
            <a:ext cx="10627200" cy="519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sz="4000"/>
            </a:b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It has survived not only five centuries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46" name="PlaceHolder 10"/>
          <p:cNvSpPr>
            <a:spLocks noGrp="1"/>
          </p:cNvSpPr>
          <p:nvPr>
            <p:ph type="body"/>
          </p:nvPr>
        </p:nvSpPr>
        <p:spPr>
          <a:xfrm>
            <a:off x="12364200" y="5646600"/>
            <a:ext cx="10627200" cy="10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2"/>
                </a:solidFill>
                <a:uFillTx/>
                <a:latin typeface="TT Norms Pro Medium"/>
              </a:rPr>
              <a:t>Lorem Ipsum Lorem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25"/>
          <p:cNvSpPr/>
          <p:nvPr/>
        </p:nvSpPr>
        <p:spPr>
          <a:xfrm>
            <a:off x="0" y="3907440"/>
            <a:ext cx="11668320" cy="736956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49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2"/>
          <p:cNvSpPr>
            <a:spLocks noGrp="1"/>
          </p:cNvSpPr>
          <p:nvPr>
            <p:ph type="ftr" idx="8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9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507931BE-013B-471E-A892-B6AA0593A8B9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53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4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1297800" y="5697000"/>
            <a:ext cx="9217440" cy="50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2"/>
                </a:solidFill>
                <a:uFillTx/>
                <a:latin typeface="TT Norms Pro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body"/>
          </p:nvPr>
        </p:nvSpPr>
        <p:spPr>
          <a:xfrm>
            <a:off x="1297800" y="4790520"/>
            <a:ext cx="9217440" cy="10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2"/>
                </a:solidFill>
                <a:uFillTx/>
                <a:latin typeface="TT Norms Pro Medium"/>
              </a:rPr>
              <a:t>Lorem Ipsum Lorem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body"/>
          </p:nvPr>
        </p:nvSpPr>
        <p:spPr>
          <a:xfrm>
            <a:off x="12297600" y="4370760"/>
            <a:ext cx="3749400" cy="209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0" strike="noStrike" u="none">
                <a:solidFill>
                  <a:schemeClr val="accent1"/>
                </a:solidFill>
                <a:uFillTx/>
                <a:latin typeface="Tahoma"/>
              </a:rPr>
              <a:t>62%</a:t>
            </a:r>
            <a:endParaRPr b="0" lang="ru-RU" sz="1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body"/>
          </p:nvPr>
        </p:nvSpPr>
        <p:spPr>
          <a:xfrm>
            <a:off x="12354840" y="6468120"/>
            <a:ext cx="3760920" cy="14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Lorem Ipsum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is simply dummy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text of the printing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60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298520" y="7281720"/>
            <a:ext cx="1062648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1"/>
                </a:solidFill>
                <a:uFillTx/>
                <a:latin typeface="Tahoma"/>
              </a:rPr>
              <a:t>What is Lorem Ipsum?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298520" y="8328960"/>
            <a:ext cx="14312520" cy="367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Lorem Ipsum is simply dummy text of the printing and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typesetting industry. Lorem Ipsum has been the industry's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standard dummy text ever since the 1500s, when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an unknown printer took a galley of type and scrambled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it to make a type specimen book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10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&lt;нижний колонтитул&gt;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11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93855A88-9A1C-4EDE-AC24-AE86F0DEC5F8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&lt;номер&gt;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66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7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69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98520" y="4572000"/>
            <a:ext cx="10626480" cy="367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Стратегической целью НИТУ «МИСИС», согласно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участию в Проекте «5–100», является вхождение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 закрепление в числе ведущих мировых университетов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 основным международным рейтингам (THE, QS),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за счёт фундаментальных и прикладных исследований мирового уровня в материаловедении, нано- и био-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технологиях, металлургии и горном деле.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ftr" idx="12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sldNum" idx="13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2F832A00-7A58-42E3-BA26-61A019494DBF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74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5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Прямоугольник 10"/>
          <p:cNvSpPr/>
          <p:nvPr/>
        </p:nvSpPr>
        <p:spPr>
          <a:xfrm>
            <a:off x="0" y="8533800"/>
            <a:ext cx="11939400" cy="3392640"/>
          </a:xfrm>
          <a:prstGeom prst="rect">
            <a:avLst/>
          </a:prstGeom>
          <a:solidFill>
            <a:schemeClr val="accent6"/>
          </a:solidFill>
          <a:ln>
            <a:solidFill>
              <a:srgbClr val="0a1e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accent6"/>
              </a:solidFill>
              <a:uFillTx/>
              <a:latin typeface="Tahoma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943160" y="8910000"/>
            <a:ext cx="6981840" cy="11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7300" strike="noStrike" u="none">
                <a:solidFill>
                  <a:schemeClr val="lt2"/>
                </a:solidFill>
                <a:uFillTx/>
                <a:latin typeface="Tahoma"/>
              </a:rPr>
              <a:t>ТОП-10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4956480" y="10189440"/>
            <a:ext cx="6968520" cy="13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71" strike="noStrike" u="none">
                <a:solidFill>
                  <a:schemeClr val="lt2"/>
                </a:solidFill>
                <a:uFillTx/>
                <a:latin typeface="TT Norms Pro"/>
              </a:rPr>
              <a:t>Среди лучших вузов России, </a:t>
            </a:r>
            <a:br>
              <a:rPr sz="4000"/>
            </a:br>
            <a:r>
              <a:rPr b="0" lang="ru-RU" sz="4000" spc="-71" strike="noStrike" u="none">
                <a:solidFill>
                  <a:schemeClr val="lt2"/>
                </a:solidFill>
                <a:uFillTx/>
                <a:latin typeface="TT Norms Pro"/>
              </a:rPr>
              <a:t>по версии «Интерфакс»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79" name="Рисунок 19" descr=""/>
          <p:cNvPicPr/>
          <p:nvPr/>
        </p:nvPicPr>
        <p:blipFill>
          <a:blip r:embed="rId4"/>
          <a:stretch/>
        </p:blipFill>
        <p:spPr>
          <a:xfrm>
            <a:off x="1728720" y="9141840"/>
            <a:ext cx="2285640" cy="1896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10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раздела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81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6035120" y="2029680"/>
            <a:ext cx="695628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Название данного</a:t>
            </a:r>
            <a:br>
              <a:rPr sz="4000"/>
            </a:b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блока информации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ftr" idx="14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sldNum" idx="15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E21FE2A2-1469-4E1E-A598-AD005E4A1A1E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7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16056720" y="3664080"/>
            <a:ext cx="6936840" cy="26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Постоянный поиск наиболее эффективных действующих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веществ и их комбинаций,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а также оригинальные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инновационные препараты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body"/>
          </p:nvPr>
        </p:nvSpPr>
        <p:spPr>
          <a:xfrm>
            <a:off x="16035120" y="2029680"/>
            <a:ext cx="695628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Название данного</a:t>
            </a:r>
            <a:br>
              <a:rPr sz="4000"/>
            </a:b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блока информации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16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7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5C3371A8-1E71-4C72-B46A-52448AAE934A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5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16056720" y="3664080"/>
            <a:ext cx="6936840" cy="26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Постоянный поиск наиболее эффективных действующих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веществ и их комбинаций,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а также оригинальные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инновационные препараты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10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раздела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99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1298520" y="3512160"/>
            <a:ext cx="325908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Таблица 2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ftr" idx="18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 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sldNum" idx="19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56E4FCAB-7CB9-4F4A-A796-3C227E49C535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1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5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6"/>
          <p:cNvSpPr>
            <a:spLocks noGrp="1"/>
          </p:cNvSpPr>
          <p:nvPr>
            <p:ph type="body"/>
          </p:nvPr>
        </p:nvSpPr>
        <p:spPr>
          <a:xfrm>
            <a:off x="5007960" y="3512160"/>
            <a:ext cx="693684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Сопроводительный текст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к данной таблице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Рисунок 4" descr=""/>
          <p:cNvPicPr/>
          <p:nvPr/>
        </p:nvPicPr>
        <p:blipFill>
          <a:blip r:embed="rId3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1298520" y="10086840"/>
            <a:ext cx="6936840" cy="26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Ленинский проспект, д. 4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Москва, 119049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тел. +7 (495) 955-00-32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e-mail: kancela@misis.ru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misis.ru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1298520" y="71845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Спасибо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 внимание!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8520" y="7890840"/>
            <a:ext cx="9952200" cy="209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dk2"/>
                </a:solidFill>
                <a:uFillTx/>
                <a:latin typeface="Tahoma"/>
              </a:rPr>
              <a:t>Заголовок</a:t>
            </a:r>
            <a:br>
              <a:rPr sz="8600"/>
            </a:br>
            <a:r>
              <a:rPr b="0" lang="ru-RU" sz="8600" strike="noStrike" u="none">
                <a:solidFill>
                  <a:schemeClr val="dk2"/>
                </a:solidFill>
                <a:uFillTx/>
                <a:latin typeface="Tahoma"/>
              </a:rPr>
              <a:t>презентации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dt" idx="20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380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5600" strike="noStrike" u="none">
                <a:solidFill>
                  <a:schemeClr val="dk1"/>
                </a:solidFill>
                <a:uFillTx/>
                <a:latin typeface="Tahoma"/>
              </a:rPr>
              <a:t>Для правки структуры щёлкните мышью</a:t>
            </a:r>
            <a:endParaRPr b="0" lang="ru-RU" sz="56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000" strike="noStrike" u="none">
                <a:solidFill>
                  <a:schemeClr val="dk1"/>
                </a:solidFill>
                <a:uFillTx/>
                <a:latin typeface="Tahoma"/>
              </a:rPr>
              <a:t>Второй уровень структуры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600" strike="noStrike" u="none">
                <a:solidFill>
                  <a:schemeClr val="dk1"/>
                </a:solidFill>
                <a:uFillTx/>
                <a:latin typeface="Tahoma"/>
              </a:rPr>
              <a:t>Третий уровень структуры</a:t>
            </a: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600" strike="noStrike" u="none">
                <a:solidFill>
                  <a:schemeClr val="dk1"/>
                </a:solidFill>
                <a:uFillTx/>
                <a:latin typeface="Tahoma"/>
              </a:rPr>
              <a:t>Четвёртый уровень структуры</a:t>
            </a: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Tahoma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Tahoma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Tahoma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362640" y="5147640"/>
            <a:ext cx="12572640" cy="553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13700"/>
              </a:lnSpc>
              <a:buNone/>
              <a:tabLst>
                <a:tab algn="l" pos="0"/>
              </a:tabLst>
            </a:pPr>
            <a:r>
              <a:rPr b="0" lang="en-US" sz="15900" strike="noStrike" u="none">
                <a:solidFill>
                  <a:schemeClr val="lt2"/>
                </a:solidFill>
                <a:uFillTx/>
                <a:latin typeface="Tahoma"/>
              </a:rPr>
              <a:t>   </a:t>
            </a:r>
            <a:r>
              <a:rPr b="0" lang="ru-RU" sz="15900" strike="noStrike" u="none">
                <a:solidFill>
                  <a:schemeClr val="lt2"/>
                </a:solidFill>
                <a:uFillTx/>
                <a:latin typeface="Tahoma"/>
              </a:rPr>
              <a:t>Заголовок</a:t>
            </a:r>
            <a:br>
              <a:rPr sz="15900"/>
            </a:br>
            <a:r>
              <a:rPr b="0" lang="en-US" sz="15900" strike="noStrike" u="none">
                <a:solidFill>
                  <a:schemeClr val="lt2"/>
                </a:solidFill>
                <a:uFillTx/>
                <a:latin typeface="Tahoma"/>
              </a:rPr>
              <a:t>       </a:t>
            </a:r>
            <a:r>
              <a:rPr b="0" lang="ru-RU" sz="15900" strike="noStrike" u="none">
                <a:solidFill>
                  <a:schemeClr val="lt2"/>
                </a:solidFill>
                <a:uFillTx/>
                <a:latin typeface="Tahoma"/>
              </a:rPr>
              <a:t>раздела</a:t>
            </a:r>
            <a:br>
              <a:rPr sz="15900"/>
            </a:br>
            <a:r>
              <a:rPr b="0" lang="ru-RU" sz="15900" strike="noStrike" u="none">
                <a:solidFill>
                  <a:schemeClr val="lt2"/>
                </a:solidFill>
                <a:uFillTx/>
                <a:latin typeface="Tahoma"/>
              </a:rPr>
              <a:t>или главы</a:t>
            </a:r>
            <a:br>
              <a:rPr sz="15900"/>
            </a:br>
            <a:endParaRPr b="0" lang="ru-RU" sz="159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620120" y="5147640"/>
            <a:ext cx="12572640" cy="37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13700"/>
              </a:lnSpc>
              <a:buNone/>
            </a:pPr>
            <a:r>
              <a:rPr b="0" lang="ru-RU" sz="15900" strike="noStrike" u="none">
                <a:solidFill>
                  <a:schemeClr val="lt2"/>
                </a:solidFill>
                <a:uFillTx/>
                <a:latin typeface="Tahoma"/>
              </a:rPr>
              <a:t>Заголовок</a:t>
            </a:r>
            <a:br>
              <a:rPr sz="15900"/>
            </a:br>
            <a:r>
              <a:rPr b="0" lang="en-US" sz="15900" strike="noStrike" u="none">
                <a:solidFill>
                  <a:schemeClr val="lt2"/>
                </a:solidFill>
                <a:uFillTx/>
                <a:latin typeface="Tahoma"/>
              </a:rPr>
              <a:t>     </a:t>
            </a:r>
            <a:r>
              <a:rPr b="0" lang="ru-RU" sz="15900" strike="noStrike" u="none">
                <a:solidFill>
                  <a:schemeClr val="lt2"/>
                </a:solidFill>
                <a:uFillTx/>
                <a:latin typeface="Tahoma"/>
              </a:rPr>
              <a:t>короткий</a:t>
            </a:r>
            <a:endParaRPr b="0" lang="ru-RU" sz="159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4512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2"/>
                </a:solidFill>
                <a:uFillTx/>
                <a:latin typeface="Tahoma"/>
              </a:rPr>
              <a:t>Заголовок</a:t>
            </a:r>
            <a:br>
              <a:rPr sz="8600"/>
            </a:br>
            <a:r>
              <a:rPr b="0" lang="ru-RU" sz="8600" strike="noStrike" u="none">
                <a:solidFill>
                  <a:schemeClr val="lt2"/>
                </a:solidFill>
                <a:uFillTx/>
                <a:latin typeface="Tahoma"/>
              </a:rPr>
              <a:t>раздела</a:t>
            </a:r>
            <a:br>
              <a:rPr sz="8600"/>
            </a:br>
            <a:r>
              <a:rPr b="0" lang="ru-RU" sz="8600" strike="noStrike" u="none">
                <a:solidFill>
                  <a:schemeClr val="lt2"/>
                </a:solidFill>
                <a:uFillTx/>
                <a:latin typeface="Tahoma"/>
              </a:rPr>
              <a:t>или главы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dt" idx="21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pic>
        <p:nvPicPr>
          <p:cNvPr id="119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87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в одну</a:t>
            </a:r>
            <a:br>
              <a:rPr sz="7300"/>
            </a:b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или несколько строк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121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1298520" y="4379400"/>
            <a:ext cx="1062648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1"/>
                </a:solidFill>
                <a:uFillTx/>
                <a:latin typeface="Tahoma"/>
              </a:rPr>
              <a:t>What is Lorem Ipsum?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1298520" y="5787000"/>
            <a:ext cx="10626480" cy="65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Lorem Ipsum is simply dummy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of the printing and typesetting industry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Lorem Ipsum has been the industry's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standard dummy text ever since the 1500s, when an unknown printer took a galley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of type and scrambled it to make a type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specimen book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18060840" y="9151920"/>
            <a:ext cx="493056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accent1"/>
                </a:solidFill>
                <a:uFillTx/>
                <a:latin typeface="Tahoma"/>
              </a:rPr>
              <a:t>Lorem Ipsum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body"/>
          </p:nvPr>
        </p:nvSpPr>
        <p:spPr>
          <a:xfrm>
            <a:off x="18060840" y="9745560"/>
            <a:ext cx="4930560" cy="14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is simply dummy text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Lorem Ipsum is simply 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body"/>
          </p:nvPr>
        </p:nvSpPr>
        <p:spPr>
          <a:xfrm>
            <a:off x="15878880" y="8839080"/>
            <a:ext cx="2120040" cy="226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0" strike="noStrike" u="none">
                <a:solidFill>
                  <a:schemeClr val="accent1"/>
                </a:solidFill>
                <a:uFillTx/>
                <a:latin typeface="Tahoma"/>
              </a:rPr>
              <a:t>72</a:t>
            </a:r>
            <a:endParaRPr b="0" lang="ru-RU" sz="1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body"/>
          </p:nvPr>
        </p:nvSpPr>
        <p:spPr>
          <a:xfrm>
            <a:off x="16050240" y="4474800"/>
            <a:ext cx="7361640" cy="24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«Хотел бы отметить особую роль НИТУ «МИСиС»</a:t>
            </a:r>
            <a:br>
              <a:rPr sz="2200"/>
            </a:b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в подготовке специалистов для предприятий ОМК.</a:t>
            </a:r>
            <a:br>
              <a:rPr sz="2200"/>
            </a:b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Блестящее качество образования и глубина знаний</a:t>
            </a:r>
            <a:br>
              <a:rPr sz="2200"/>
            </a:b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наших сотрудников, уникальные учебные программы</a:t>
            </a:r>
            <a:br>
              <a:rPr sz="2200"/>
            </a:b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университета, в том числе разработанные специально</a:t>
            </a:r>
            <a:br>
              <a:rPr sz="2200"/>
            </a:b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для нас, — один из главных факторов успеха ОМК»</a:t>
            </a:r>
            <a:endParaRPr b="0" lang="ru-RU" sz="2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8" name="PlaceHolder 8"/>
          <p:cNvSpPr>
            <a:spLocks noGrp="1"/>
          </p:cNvSpPr>
          <p:nvPr>
            <p:ph type="body"/>
          </p:nvPr>
        </p:nvSpPr>
        <p:spPr>
          <a:xfrm>
            <a:off x="16050240" y="7110000"/>
            <a:ext cx="73616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Анатолий Седых</a:t>
            </a:r>
            <a:endParaRPr b="0" lang="ru-RU" sz="17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29" name="PlaceHolder 9"/>
          <p:cNvSpPr>
            <a:spLocks noGrp="1"/>
          </p:cNvSpPr>
          <p:nvPr>
            <p:ph type="body"/>
          </p:nvPr>
        </p:nvSpPr>
        <p:spPr>
          <a:xfrm>
            <a:off x="16050240" y="7382160"/>
            <a:ext cx="73616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Председатель правления АО «ОМК».</a:t>
            </a:r>
            <a:br>
              <a:rPr sz="1700"/>
            </a:br>
            <a:r>
              <a:rPr b="0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Выпускник МИСИС</a:t>
            </a:r>
            <a:endParaRPr b="0" lang="ru-RU" sz="17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30" name="PlaceHolder 10"/>
          <p:cNvSpPr>
            <a:spLocks noGrp="1"/>
          </p:cNvSpPr>
          <p:nvPr>
            <p:ph type="ftr" idx="22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&lt;нижний колонтитул&gt;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1" name="PlaceHolder 11"/>
          <p:cNvSpPr>
            <a:spLocks noGrp="1"/>
          </p:cNvSpPr>
          <p:nvPr>
            <p:ph type="sldNum" idx="23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DAF56AA5-5DE2-4093-B92E-1994B71AE014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&lt;номер&gt;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2" name="PlaceHolder 12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4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73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раздела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136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1298520" y="3760200"/>
            <a:ext cx="8461440" cy="29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Lorem Ipsum is simply dummy</a:t>
            </a:r>
            <a:br>
              <a:rPr sz="4000"/>
            </a:b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text of the printing and typesetting</a:t>
            </a:r>
            <a:br>
              <a:rPr sz="4000"/>
            </a:b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industry. Lorem Ipsum has been</a:t>
            </a:r>
            <a:br>
              <a:rPr sz="4000"/>
            </a:b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the industry's standard dummy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12363480" y="7655400"/>
            <a:ext cx="10681920" cy="467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Lorem Ipsum has been the industry's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standard dummy text ever since the 1500s,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when an unknown printer took a galley 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Lorem Ipsum has been the industry's 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standard dummy text ever since the 1500s,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when an unknown printer took a galley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12354840" y="5364000"/>
            <a:ext cx="3256200" cy="14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Lorem Ipsum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is simply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dummy text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body"/>
          </p:nvPr>
        </p:nvSpPr>
        <p:spPr>
          <a:xfrm>
            <a:off x="12297600" y="3326400"/>
            <a:ext cx="3313440" cy="203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0" strike="noStrike" u="none">
                <a:solidFill>
                  <a:schemeClr val="accent1"/>
                </a:solidFill>
                <a:uFillTx/>
                <a:latin typeface="Tahoma"/>
              </a:rPr>
              <a:t>23</a:t>
            </a:r>
            <a:endParaRPr b="0" lang="ru-RU" sz="1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 type="body"/>
          </p:nvPr>
        </p:nvSpPr>
        <p:spPr>
          <a:xfrm>
            <a:off x="1298520" y="7673040"/>
            <a:ext cx="7129440" cy="247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b="0" lang="en-US" sz="2200" strike="noStrike" u="none">
                <a:solidFill>
                  <a:schemeClr val="dk2"/>
                </a:solidFill>
                <a:uFillTx/>
                <a:latin typeface="TT Norms Pro"/>
              </a:rPr>
              <a:t> </a:t>
            </a: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физики частиц»</a:t>
            </a:r>
            <a:endParaRPr b="0" lang="ru-RU" sz="2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42" name="PlaceHolder 7"/>
          <p:cNvSpPr>
            <a:spLocks noGrp="1"/>
          </p:cNvSpPr>
          <p:nvPr>
            <p:ph type="body"/>
          </p:nvPr>
        </p:nvSpPr>
        <p:spPr>
          <a:xfrm>
            <a:off x="1298520" y="10548360"/>
            <a:ext cx="7129440" cy="27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Григорий Трубников</a:t>
            </a:r>
            <a:endParaRPr b="0" lang="ru-RU" sz="17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43" name="PlaceHolder 8"/>
          <p:cNvSpPr>
            <a:spLocks noGrp="1"/>
          </p:cNvSpPr>
          <p:nvPr>
            <p:ph type="body"/>
          </p:nvPr>
        </p:nvSpPr>
        <p:spPr>
          <a:xfrm>
            <a:off x="1298520" y="10820520"/>
            <a:ext cx="7129440" cy="8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заместитель министра науки </a:t>
            </a:r>
            <a:br>
              <a:rPr sz="1700"/>
            </a:br>
            <a:r>
              <a:rPr b="0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и высшего образования РФ</a:t>
            </a:r>
            <a:endParaRPr b="0" lang="ru-RU" sz="17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44" name="PlaceHolder 9"/>
          <p:cNvSpPr>
            <a:spLocks noGrp="1"/>
          </p:cNvSpPr>
          <p:nvPr>
            <p:ph type="ftr" idx="24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&lt;нижний колонтитул&gt;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5" name="PlaceHolder 10"/>
          <p:cNvSpPr>
            <a:spLocks noGrp="1"/>
          </p:cNvSpPr>
          <p:nvPr>
            <p:ph type="sldNum" idx="25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61624E84-FD82-43C5-8162-34F4EEDD557E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&lt;номер&gt;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6" name="PlaceHolder 11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47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8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PlaceHolder 12"/>
          <p:cNvSpPr>
            <a:spLocks noGrp="1"/>
          </p:cNvSpPr>
          <p:nvPr>
            <p:ph type="body"/>
          </p:nvPr>
        </p:nvSpPr>
        <p:spPr>
          <a:xfrm>
            <a:off x="16047360" y="5364000"/>
            <a:ext cx="3256200" cy="14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Lorem Ipsum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is simply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dummy text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0" name="PlaceHolder 13"/>
          <p:cNvSpPr>
            <a:spLocks noGrp="1"/>
          </p:cNvSpPr>
          <p:nvPr>
            <p:ph type="body"/>
          </p:nvPr>
        </p:nvSpPr>
        <p:spPr>
          <a:xfrm>
            <a:off x="15990120" y="3326400"/>
            <a:ext cx="3313440" cy="203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0" strike="noStrike" u="none">
                <a:solidFill>
                  <a:schemeClr val="accent1"/>
                </a:solidFill>
                <a:uFillTx/>
                <a:latin typeface="Tahoma"/>
              </a:rPr>
              <a:t>115</a:t>
            </a:r>
            <a:endParaRPr b="0" lang="ru-RU" sz="1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1" name="PlaceHolder 14"/>
          <p:cNvSpPr>
            <a:spLocks noGrp="1"/>
          </p:cNvSpPr>
          <p:nvPr>
            <p:ph type="body"/>
          </p:nvPr>
        </p:nvSpPr>
        <p:spPr>
          <a:xfrm>
            <a:off x="19722600" y="5364000"/>
            <a:ext cx="3256200" cy="14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Lorem Ipsum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is simply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dummy text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2" name="PlaceHolder 15"/>
          <p:cNvSpPr>
            <a:spLocks noGrp="1"/>
          </p:cNvSpPr>
          <p:nvPr>
            <p:ph type="body"/>
          </p:nvPr>
        </p:nvSpPr>
        <p:spPr>
          <a:xfrm>
            <a:off x="19665000" y="3326400"/>
            <a:ext cx="3313440" cy="203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0" strike="noStrike" u="none">
                <a:solidFill>
                  <a:schemeClr val="accent1"/>
                </a:solidFill>
                <a:uFillTx/>
                <a:latin typeface="Tahoma"/>
              </a:rPr>
              <a:t>8</a:t>
            </a:r>
            <a:endParaRPr b="0" lang="ru-RU" sz="1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1"/>
          <p:cNvSpPr>
            <a:spLocks noGrp="1"/>
          </p:cNvSpPr>
          <p:nvPr>
            <p:ph type="body"/>
          </p:nvPr>
        </p:nvSpPr>
        <p:spPr>
          <a:xfrm>
            <a:off x="1298520" y="2030760"/>
            <a:ext cx="6956280" cy="29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Lorem Ipsum is simply</a:t>
            </a:r>
            <a:br>
              <a:rPr sz="4000"/>
            </a:b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dummy text of the printing and typesetting industry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Lorem Ipsum has been</a:t>
            </a:r>
            <a:br>
              <a:rPr sz="4000"/>
            </a:br>
            <a:r>
              <a:rPr b="0" lang="en-US" sz="4000" strike="noStrike" u="none">
                <a:solidFill>
                  <a:schemeClr val="accent1"/>
                </a:solidFill>
                <a:uFillTx/>
                <a:latin typeface="Tahoma"/>
              </a:rPr>
              <a:t>the industry's standard dummy text ever since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12347640" y="8534160"/>
            <a:ext cx="10738080" cy="95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1"/>
                </a:solidFill>
                <a:uFillTx/>
                <a:latin typeface="Tahoma"/>
              </a:rPr>
              <a:t>Lorem Ipsum Lorem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12354840" y="3744720"/>
            <a:ext cx="3760920" cy="141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Lorem Ipsum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is simply dummy</a:t>
            </a:r>
            <a:br>
              <a:rPr sz="3000"/>
            </a:br>
            <a:r>
              <a:rPr b="0" lang="en-US" sz="3000" strike="noStrike" u="none">
                <a:solidFill>
                  <a:schemeClr val="dk2"/>
                </a:solidFill>
                <a:uFillTx/>
                <a:latin typeface="Tahoma"/>
              </a:rPr>
              <a:t>text of the printing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/>
          </p:nvPr>
        </p:nvSpPr>
        <p:spPr>
          <a:xfrm>
            <a:off x="12297600" y="1707120"/>
            <a:ext cx="3749400" cy="203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0" strike="noStrike" u="none">
                <a:solidFill>
                  <a:schemeClr val="accent1"/>
                </a:solidFill>
                <a:uFillTx/>
                <a:latin typeface="Tahoma"/>
              </a:rPr>
              <a:t>62%</a:t>
            </a:r>
            <a:endParaRPr b="0" lang="ru-RU" sz="1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body"/>
          </p:nvPr>
        </p:nvSpPr>
        <p:spPr>
          <a:xfrm>
            <a:off x="1298520" y="7096320"/>
            <a:ext cx="6135480" cy="287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b="0" lang="en-US" sz="2200" strike="noStrike" u="none">
                <a:solidFill>
                  <a:schemeClr val="dk2"/>
                </a:solidFill>
                <a:uFillTx/>
                <a:latin typeface="TT Norms Pro"/>
              </a:rPr>
              <a:t> </a:t>
            </a:r>
            <a:r>
              <a:rPr b="0" lang="ru-RU" sz="2200" strike="noStrike" u="none">
                <a:solidFill>
                  <a:schemeClr val="dk2"/>
                </a:solidFill>
                <a:uFillTx/>
                <a:latin typeface="TT Norms Pro"/>
              </a:rPr>
              <a:t>физики частиц»</a:t>
            </a:r>
            <a:endParaRPr b="0" lang="ru-RU" sz="2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body"/>
          </p:nvPr>
        </p:nvSpPr>
        <p:spPr>
          <a:xfrm>
            <a:off x="1298520" y="10310040"/>
            <a:ext cx="6956280" cy="27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Григорий Трубников</a:t>
            </a:r>
            <a:endParaRPr b="0" lang="ru-RU" sz="17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 type="body"/>
          </p:nvPr>
        </p:nvSpPr>
        <p:spPr>
          <a:xfrm>
            <a:off x="1298520" y="10581840"/>
            <a:ext cx="6956280" cy="8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заместитель министра науки </a:t>
            </a:r>
            <a:br>
              <a:rPr sz="1700"/>
            </a:br>
            <a:r>
              <a:rPr b="0" lang="ru-RU" sz="1700" strike="noStrike" u="none">
                <a:solidFill>
                  <a:schemeClr val="dk2"/>
                </a:solidFill>
                <a:uFillTx/>
                <a:latin typeface="TT Norms Pro"/>
              </a:rPr>
              <a:t>и высшего образования РФ</a:t>
            </a:r>
            <a:endParaRPr b="0" lang="ru-RU" sz="17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61" name="PlaceHolder 8"/>
          <p:cNvSpPr>
            <a:spLocks noGrp="1"/>
          </p:cNvSpPr>
          <p:nvPr>
            <p:ph type="ftr" idx="26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&lt;нижний колонтитул&gt;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2" name="PlaceHolder 9"/>
          <p:cNvSpPr>
            <a:spLocks noGrp="1"/>
          </p:cNvSpPr>
          <p:nvPr>
            <p:ph type="sldNum" idx="27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F0B84830-CC3E-444F-BE58-582C536E2EAE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&lt;номер&gt;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3" name="PlaceHolder 10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5" name="Рисунок 18" descr=""/>
          <p:cNvPicPr/>
          <p:nvPr/>
        </p:nvPicPr>
        <p:blipFill>
          <a:blip r:embed="rId3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1"/>
          <p:cNvSpPr>
            <a:spLocks noGrp="1"/>
          </p:cNvSpPr>
          <p:nvPr>
            <p:ph type="body"/>
          </p:nvPr>
        </p:nvSpPr>
        <p:spPr>
          <a:xfrm>
            <a:off x="12363480" y="9448920"/>
            <a:ext cx="10738080" cy="290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Lorem Ipsum is simply dummy text of the</a:t>
            </a:r>
            <a:br>
              <a:rPr sz="4000"/>
            </a:br>
            <a:r>
              <a:rPr b="0" lang="en-US" sz="4000" strike="noStrike" u="none">
                <a:solidFill>
                  <a:schemeClr val="dk2"/>
                </a:solidFill>
                <a:uFillTx/>
                <a:latin typeface="Tahoma"/>
              </a:rPr>
              <a:t>printing and typesetting industry Lorem Ipsum has been the industry's standard dummy text </a:t>
            </a:r>
            <a:endParaRPr b="0" lang="ru-RU" sz="4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298520" y="2115720"/>
            <a:ext cx="10626480" cy="110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6701"/>
              </a:lnSpc>
              <a:buNone/>
            </a:pPr>
            <a:r>
              <a:rPr b="0" lang="ru-RU" sz="7300" strike="noStrike" u="none">
                <a:solidFill>
                  <a:schemeClr val="accent1"/>
                </a:solidFill>
                <a:uFillTx/>
                <a:latin typeface="Tahoma"/>
              </a:rPr>
              <a:t>Заголовок раздела</a:t>
            </a:r>
            <a:endParaRPr b="0" lang="ru-RU" sz="73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pic>
        <p:nvPicPr>
          <p:cNvPr id="168" name="Рисунок 4" descr=""/>
          <p:cNvPicPr/>
          <p:nvPr/>
        </p:nvPicPr>
        <p:blipFill>
          <a:blip r:embed="rId2"/>
          <a:stretch/>
        </p:blipFill>
        <p:spPr>
          <a:xfrm>
            <a:off x="1335960" y="5430240"/>
            <a:ext cx="161640" cy="12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298520" y="3655440"/>
            <a:ext cx="10626480" cy="10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chemeClr val="accent1"/>
                </a:solidFill>
                <a:uFillTx/>
                <a:latin typeface="Tahoma"/>
              </a:rPr>
              <a:t>What is Lorem Ipsum?</a:t>
            </a:r>
            <a:endParaRPr b="0" lang="ru-RU" sz="5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1295280" y="5123520"/>
            <a:ext cx="6936840" cy="65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23960" indent="-723960" defTabSz="1828800">
              <a:lnSpc>
                <a:spcPct val="100000"/>
              </a:lnSpc>
              <a:buSzPct val="100054"/>
              <a:buBlip>
                <a:blip r:embed="rId3"/>
              </a:buBlip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Организация и управление научно-образовательным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процессом по программам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подготовки научно-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педагогических кадров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 аспирантуре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</a:pP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marL="723960" indent="-723960" defTabSz="1828800">
              <a:lnSpc>
                <a:spcPct val="100000"/>
              </a:lnSpc>
              <a:buSzPct val="100054"/>
              <a:buBlip>
                <a:blip r:embed="rId4"/>
              </a:buBlip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Разработка нормативной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 методической документации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 осуществлению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научно-образовательной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деятельности в аспирантуре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28"/>
          </p:nvPr>
        </p:nvSpPr>
        <p:spPr>
          <a:xfrm>
            <a:off x="1302480" y="12664440"/>
            <a:ext cx="695196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1500" strike="noStrike" u="none">
                <a:solidFill>
                  <a:schemeClr val="dk2">
                    <a:tint val="75000"/>
                  </a:schemeClr>
                </a:solidFill>
                <a:uFillTx/>
                <a:latin typeface="Tahoma"/>
              </a:rPr>
              <a:t>&lt;нижний колонтитул&gt;</a:t>
            </a:r>
            <a:endParaRPr b="0" lang="ru-RU" sz="15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29"/>
          </p:nvPr>
        </p:nvSpPr>
        <p:spPr>
          <a:xfrm>
            <a:off x="19811880" y="12630960"/>
            <a:ext cx="328932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1828800">
              <a:lnSpc>
                <a:spcPct val="100000"/>
              </a:lnSpc>
              <a:buNone/>
              <a:def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defRPr>
            </a:lvl1pPr>
          </a:lstStyle>
          <a:p>
            <a:pPr indent="0" algn="r" defTabSz="1828800">
              <a:lnSpc>
                <a:spcPct val="100000"/>
              </a:lnSpc>
              <a:buNone/>
            </a:pPr>
            <a:fld id="{8A8E2CE5-34B7-4CC0-B5A4-A52432061951}" type="slidenum">
              <a:rPr b="0" lang="ru-RU" sz="2300" strike="noStrike" u="none">
                <a:solidFill>
                  <a:schemeClr val="accent1">
                    <a:tint val="75000"/>
                  </a:schemeClr>
                </a:solidFill>
                <a:uFillTx/>
                <a:latin typeface="Tahoma"/>
              </a:rPr>
              <a:t>&lt;номер&gt;</a:t>
            </a:fld>
            <a:endParaRPr b="0" lang="ru-RU" sz="23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8674200" y="12856680"/>
            <a:ext cx="6936840" cy="35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2"/>
                </a:solidFill>
                <a:uFillTx/>
                <a:latin typeface="Tahoma"/>
              </a:rPr>
              <a:t>Докладчик (при необходимости)</a:t>
            </a:r>
            <a:endParaRPr b="0" lang="ru-RU" sz="15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74" name="TextBox 17"/>
          <p:cNvSpPr/>
          <p:nvPr/>
        </p:nvSpPr>
        <p:spPr>
          <a:xfrm>
            <a:off x="19811880" y="655560"/>
            <a:ext cx="32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1828800">
              <a:lnSpc>
                <a:spcPct val="100000"/>
              </a:lnSpc>
            </a:pPr>
            <a:r>
              <a:rPr b="0" lang="en-US" sz="1600" strike="noStrike" u="none">
                <a:solidFill>
                  <a:schemeClr val="accent1"/>
                </a:solidFill>
                <a:uFillTx/>
                <a:latin typeface="Tahoma"/>
              </a:rPr>
              <a:t>misis.ru</a:t>
            </a:r>
            <a:endParaRPr b="0" lang="ru-RU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5" name="Рисунок 18" descr=""/>
          <p:cNvPicPr/>
          <p:nvPr/>
        </p:nvPicPr>
        <p:blipFill>
          <a:blip r:embed="rId5"/>
          <a:stretch/>
        </p:blipFill>
        <p:spPr>
          <a:xfrm>
            <a:off x="1395720" y="399240"/>
            <a:ext cx="239364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7"/>
          <p:cNvSpPr>
            <a:spLocks noGrp="1"/>
          </p:cNvSpPr>
          <p:nvPr>
            <p:ph type="body"/>
          </p:nvPr>
        </p:nvSpPr>
        <p:spPr>
          <a:xfrm>
            <a:off x="8674200" y="5123520"/>
            <a:ext cx="6936840" cy="65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23960" indent="-723960" defTabSz="1828800">
              <a:lnSpc>
                <a:spcPct val="100000"/>
              </a:lnSpc>
              <a:buSzPct val="100054"/>
              <a:buBlip>
                <a:blip r:embed="rId6"/>
              </a:buBlip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Организация и управление научно-образовательным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процессом по программам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подготовки научно-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педагогических кадров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 аспирантуре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</a:pP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marL="723960" indent="-723960" defTabSz="1828800">
              <a:lnSpc>
                <a:spcPct val="100000"/>
              </a:lnSpc>
              <a:buSzPct val="100054"/>
              <a:buBlip>
                <a:blip r:embed="rId7"/>
              </a:buBlip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Разработка нормативной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 методической документации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 осуществлению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научно-образовательной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деятельности в аспирантуре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77" name="PlaceHolder 8"/>
          <p:cNvSpPr>
            <a:spLocks noGrp="1"/>
          </p:cNvSpPr>
          <p:nvPr>
            <p:ph type="body"/>
          </p:nvPr>
        </p:nvSpPr>
        <p:spPr>
          <a:xfrm>
            <a:off x="16052760" y="5123520"/>
            <a:ext cx="6938640" cy="65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23960" indent="-723960" defTabSz="1828800">
              <a:lnSpc>
                <a:spcPct val="100000"/>
              </a:lnSpc>
              <a:buSzPct val="100054"/>
              <a:buBlip>
                <a:blip r:embed="rId8"/>
              </a:buBlip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Организация и управление научно-образовательным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процессом по программам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подготовки научно-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педагогических кадров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в аспирантуре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indent="0" defTabSz="1828800">
              <a:lnSpc>
                <a:spcPct val="100000"/>
              </a:lnSpc>
              <a:buNone/>
            </a:pP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  <a:p>
            <a:pPr marL="723960" indent="-723960" defTabSz="1828800">
              <a:lnSpc>
                <a:spcPct val="100000"/>
              </a:lnSpc>
              <a:buSzPct val="100054"/>
              <a:buBlip>
                <a:blip r:embed="rId9"/>
              </a:buBlip>
            </a:pP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Разработка нормативной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и методической документации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по осуществлению 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научно-образовательной</a:t>
            </a:r>
            <a:br>
              <a:rPr sz="3000"/>
            </a:br>
            <a:r>
              <a:rPr b="0" lang="ru-RU" sz="3000" strike="noStrike" u="none">
                <a:solidFill>
                  <a:schemeClr val="dk2"/>
                </a:solidFill>
                <a:uFillTx/>
                <a:latin typeface="TT Norms Pro"/>
              </a:rPr>
              <a:t>деятельности в аспирантуре</a:t>
            </a:r>
            <a:endParaRPr b="0" lang="ru-RU" sz="30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microsoft.com/office/2007/relationships/hdphoto" Target="../media/hdphoto1.wdp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Прямоугольник 1"/>
          <p:cNvSpPr/>
          <p:nvPr/>
        </p:nvSpPr>
        <p:spPr>
          <a:xfrm>
            <a:off x="1008360" y="891000"/>
            <a:ext cx="4835880" cy="21970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55040" y="3312360"/>
            <a:ext cx="16747920" cy="140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847800">
              <a:lnSpc>
                <a:spcPts val="2999"/>
              </a:lnSpc>
              <a:buNone/>
            </a:pPr>
            <a:r>
              <a:rPr b="1" lang="ru-RU" sz="4400" strike="noStrike" u="none">
                <a:solidFill>
                  <a:schemeClr val="accent1">
                    <a:lumMod val="45000"/>
                    <a:lumOff val="55000"/>
                  </a:schemeClr>
                </a:solidFill>
                <a:uFillTx/>
                <a:latin typeface="Tahoma"/>
              </a:rPr>
              <a:t>Индивидуальный проект</a:t>
            </a:r>
            <a:endParaRPr b="0" lang="ru-RU" sz="44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540000" y="9000000"/>
            <a:ext cx="9952200" cy="479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Автор работы: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Булычев Алексей Андреевич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Наставник: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учитель информатики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ГБОУ Школа №1195 </a:t>
            </a:r>
            <a:br>
              <a:rPr sz="2800"/>
            </a:b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имени Героя Советского Союза П.И. Меренкова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Виктор Григорьевич Харитинов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1" name="Рисунок 2" descr=""/>
          <p:cNvPicPr/>
          <p:nvPr/>
        </p:nvPicPr>
        <p:blipFill>
          <a:blip r:embed="rId1"/>
          <a:srcRect l="0" t="0" r="0" b="13536"/>
          <a:stretch/>
        </p:blipFill>
        <p:spPr>
          <a:xfrm>
            <a:off x="10782360" y="1330920"/>
            <a:ext cx="5882400" cy="141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Заголовок 1"/>
          <p:cNvSpPr/>
          <p:nvPr/>
        </p:nvSpPr>
        <p:spPr>
          <a:xfrm>
            <a:off x="537480" y="5450760"/>
            <a:ext cx="11692080" cy="11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1828800">
              <a:lnSpc>
                <a:spcPct val="100000"/>
              </a:lnSpc>
            </a:pPr>
            <a:r>
              <a:rPr b="1" lang="ru-RU" sz="54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Тема проекта:</a:t>
            </a:r>
            <a:endParaRPr b="0" lang="ru-RU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1828800">
              <a:lnSpc>
                <a:spcPct val="100000"/>
              </a:lnSpc>
            </a:pPr>
            <a:r>
              <a:rPr b="1" lang="ru-RU" sz="5400" strike="noStrike" u="none">
                <a:solidFill>
                  <a:schemeClr val="dk2"/>
                </a:solidFill>
                <a:uFillTx/>
                <a:latin typeface="Tahoma"/>
                <a:ea typeface="Tahoma"/>
              </a:rPr>
              <a:t>Велосборщик</a:t>
            </a:r>
            <a:endParaRPr b="0" lang="ru-RU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3" name="Рисунок 9" descr=""/>
          <p:cNvPicPr/>
          <p:nvPr/>
        </p:nvPicPr>
        <p:blipFill>
          <a:blip r:embed="rId2"/>
          <a:srcRect l="31767" t="41786" r="30561" b="42541"/>
          <a:stretch/>
        </p:blipFill>
        <p:spPr>
          <a:xfrm>
            <a:off x="6075720" y="1463040"/>
            <a:ext cx="4835880" cy="14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Рисунок 10" descr=""/>
          <p:cNvPicPr/>
          <p:nvPr/>
        </p:nvPicPr>
        <p:blipFill>
          <a:blip r:embed="rId3"/>
          <a:stretch/>
        </p:blipFill>
        <p:spPr>
          <a:xfrm>
            <a:off x="1355040" y="-243720"/>
            <a:ext cx="4604400" cy="460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4512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Проблема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720000" y="3960000"/>
            <a:ext cx="144000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68240" indent="-228600" algn="just">
              <a:lnSpc>
                <a:spcPct val="150000"/>
              </a:lnSpc>
              <a:buNone/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Проблема моего проекта — отсутствие универсальных (и каких-либо русскоязычных) ресурсов для создания велосипедов любого уровня, ценника и класса, эта проблема касается таких слоёв населения, как велолюбители, начинающие велосипедисты и специалисты-конструкторы.</a:t>
            </a:r>
            <a:endParaRPr b="0" lang="ru-RU" sz="40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30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88" name="Группа 9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189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0" name="Рисунок 12" descr=""/>
            <p:cNvPicPr/>
            <p:nvPr/>
          </p:nvPicPr>
          <p:blipFill>
            <a:blip r:embed="rId3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1" name="Рисунок 13" descr=""/>
            <p:cNvPicPr/>
            <p:nvPr/>
          </p:nvPicPr>
          <p:blipFill>
            <a:blip r:embed="rId4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2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2/13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4512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Цель проекта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1207800" y="3847320"/>
            <a:ext cx="1193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768240" indent="-228600" algn="just">
              <a:lnSpc>
                <a:spcPct val="150000"/>
              </a:lnSpc>
              <a:buNone/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  <a:ea typeface="Times New Roman"/>
              </a:rPr>
              <a:t>Создать ресурс (веб-приложение) на котором пользователи смогут легко создавать собственные велосипедные сборки, изменять, брать готовые и после скачивать их,  а также получать информацию о различных моделях и компонентах.</a:t>
            </a:r>
            <a:endParaRPr b="0" lang="ru-RU" sz="40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31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196" name="Группа 9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197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8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9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0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3/13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34128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7200" strike="noStrike" u="none">
                <a:solidFill>
                  <a:schemeClr val="lt1"/>
                </a:solidFill>
                <a:uFillTx/>
                <a:latin typeface="Tahoma"/>
              </a:rPr>
              <a:t>Планируемые сроки и этапы реализации до прототипа</a:t>
            </a:r>
            <a:endParaRPr b="0" lang="ru-RU" sz="72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32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204" name="Группа 9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05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6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7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08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4/13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Прямоугольник 14"/>
          <p:cNvSpPr/>
          <p:nvPr/>
        </p:nvSpPr>
        <p:spPr>
          <a:xfrm>
            <a:off x="0" y="0"/>
            <a:ext cx="24382080" cy="493740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defTabSz="1828800">
              <a:lnSpc>
                <a:spcPct val="100000"/>
              </a:lnSpc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dt" idx="33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2" name="Заголовок 1"/>
          <p:cNvSpPr/>
          <p:nvPr/>
        </p:nvSpPr>
        <p:spPr>
          <a:xfrm>
            <a:off x="1298520" y="3372840"/>
            <a:ext cx="196408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3" name="Группа 16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14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5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6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7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5/13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Прямоугольник 14"/>
          <p:cNvSpPr/>
          <p:nvPr/>
        </p:nvSpPr>
        <p:spPr>
          <a:xfrm>
            <a:off x="0" y="0"/>
            <a:ext cx="24382080" cy="493740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defTabSz="1828800">
              <a:lnSpc>
                <a:spcPct val="100000"/>
              </a:lnSpc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dt" idx="34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1" name="Заголовок 1"/>
          <p:cNvSpPr/>
          <p:nvPr/>
        </p:nvSpPr>
        <p:spPr>
          <a:xfrm>
            <a:off x="1298520" y="3372840"/>
            <a:ext cx="196408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2" name="Группа 16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23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4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6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6/13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Прямоугольник 14"/>
          <p:cNvSpPr/>
          <p:nvPr/>
        </p:nvSpPr>
        <p:spPr>
          <a:xfrm>
            <a:off x="0" y="0"/>
            <a:ext cx="24382080" cy="493740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defTabSz="1828800">
              <a:lnSpc>
                <a:spcPct val="100000"/>
              </a:lnSpc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dt" idx="35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0" name="Заголовок 1"/>
          <p:cNvSpPr/>
          <p:nvPr/>
        </p:nvSpPr>
        <p:spPr>
          <a:xfrm>
            <a:off x="1298520" y="3372840"/>
            <a:ext cx="196408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1828800">
              <a:lnSpc>
                <a:spcPts val="7699"/>
              </a:lnSpc>
            </a:pPr>
            <a:r>
              <a:rPr b="0" lang="ru-RU" sz="6600" strike="noStrike" u="none">
                <a:solidFill>
                  <a:schemeClr val="lt1"/>
                </a:solidFill>
                <a:uFillTx/>
                <a:latin typeface="Tahoma"/>
              </a:rPr>
              <a:t>Процесс создания продукта</a:t>
            </a:r>
            <a:endParaRPr b="0" lang="ru-RU" sz="6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1" name="Группа 16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32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3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4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5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7/13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Прямоугольник 14"/>
          <p:cNvSpPr/>
          <p:nvPr/>
        </p:nvSpPr>
        <p:spPr>
          <a:xfrm>
            <a:off x="0" y="0"/>
            <a:ext cx="12953520" cy="1371564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08352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Продукт проекта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36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0" name="Google Shape;763;p71"/>
          <p:cNvSpPr/>
          <p:nvPr/>
        </p:nvSpPr>
        <p:spPr>
          <a:xfrm>
            <a:off x="13941720" y="4074840"/>
            <a:ext cx="9303480" cy="5884560"/>
          </a:xfrm>
          <a:prstGeom prst="roundRect">
            <a:avLst>
              <a:gd name="adj" fmla="val 2154"/>
            </a:avLst>
          </a:prstGeom>
          <a:noFill/>
          <a:ln w="19050">
            <a:solidFill>
              <a:srgbClr val="054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1828800">
              <a:lnSpc>
                <a:spcPct val="100000"/>
              </a:lnSpc>
              <a:tabLst>
                <a:tab algn="l" pos="0"/>
              </a:tabLst>
            </a:pPr>
            <a:endParaRPr b="0" lang="ru-RU" sz="3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41" name="Подзаголовок 2"/>
          <p:cNvSpPr/>
          <p:nvPr/>
        </p:nvSpPr>
        <p:spPr>
          <a:xfrm>
            <a:off x="14252400" y="4386600"/>
            <a:ext cx="6107760" cy="90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1828800">
              <a:lnSpc>
                <a:spcPct val="100000"/>
              </a:lnSpc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Место для изображения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2" name="Рисунок 11" descr=""/>
          <p:cNvPicPr/>
          <p:nvPr/>
        </p:nvPicPr>
        <p:blipFill>
          <a:blip r:embed="rId1"/>
          <a:stretch/>
        </p:blipFill>
        <p:spPr>
          <a:xfrm>
            <a:off x="19244160" y="542520"/>
            <a:ext cx="5158800" cy="14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Рисунок 1" descr=""/>
          <p:cNvPicPr/>
          <p:nvPr/>
        </p:nvPicPr>
        <p:blipFill>
          <a:blip r:embed="rId2"/>
          <a:stretch/>
        </p:blipFill>
        <p:spPr>
          <a:xfrm>
            <a:off x="13416840" y="166680"/>
            <a:ext cx="2224800" cy="218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Рисунок 26" descr=""/>
          <p:cNvPicPr/>
          <p:nvPr/>
        </p:nvPicPr>
        <p:blipFill>
          <a:blip r:embed="rId3"/>
          <a:stretch/>
        </p:blipFill>
        <p:spPr>
          <a:xfrm>
            <a:off x="16062120" y="21960"/>
            <a:ext cx="2801880" cy="280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8/13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41490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Сравнение с аналогами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dt" idx="37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249" name="Группа 9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50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1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2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53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9/13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0835280" cy="312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Экономическая составляющая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l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dt" idx="38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chemeClr val="lt1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grpSp>
        <p:nvGrpSpPr>
          <p:cNvPr id="257" name="Группа 9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58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9" name="Рисунок 16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0" name="Рисунок 17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61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10/13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Прямоугольник 14"/>
          <p:cNvSpPr/>
          <p:nvPr/>
        </p:nvSpPr>
        <p:spPr>
          <a:xfrm>
            <a:off x="0" y="0"/>
            <a:ext cx="24382080" cy="493740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7296480" cy="120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Заключение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dt" idx="39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6" name="Заголовок 1"/>
          <p:cNvSpPr/>
          <p:nvPr/>
        </p:nvSpPr>
        <p:spPr>
          <a:xfrm>
            <a:off x="1298520" y="3372840"/>
            <a:ext cx="196408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1828800">
              <a:lnSpc>
                <a:spcPts val="7699"/>
              </a:lnSpc>
            </a:pPr>
            <a:endParaRPr b="0" lang="ru-RU" sz="60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grpSp>
        <p:nvGrpSpPr>
          <p:cNvPr id="267" name="Группа 16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68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9" name="Рисунок 18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0" name="Рисунок 1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1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11/13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Прямоугольник 14"/>
          <p:cNvSpPr/>
          <p:nvPr/>
        </p:nvSpPr>
        <p:spPr>
          <a:xfrm>
            <a:off x="0" y="0"/>
            <a:ext cx="24382080" cy="493740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828800">
              <a:lnSpc>
                <a:spcPct val="100000"/>
              </a:lnSpc>
            </a:pPr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298520" y="2163960"/>
            <a:ext cx="12047400" cy="120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ts val="7699"/>
              </a:lnSpc>
              <a:buNone/>
            </a:pPr>
            <a:r>
              <a:rPr b="0" lang="ru-RU" sz="8600" strike="noStrike" u="none">
                <a:solidFill>
                  <a:schemeClr val="lt1"/>
                </a:solidFill>
                <a:uFillTx/>
                <a:latin typeface="Tahoma"/>
              </a:rPr>
              <a:t>Список используемой литературы</a:t>
            </a:r>
            <a:endParaRPr b="0" lang="ru-RU" sz="8600" strike="noStrike" u="none">
              <a:solidFill>
                <a:schemeClr val="dk1"/>
              </a:solidFill>
              <a:uFillTx/>
              <a:latin typeface="Tahoma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subTitle"/>
          </p:nvPr>
        </p:nvSpPr>
        <p:spPr>
          <a:xfrm>
            <a:off x="1298520" y="7017480"/>
            <a:ext cx="9952200" cy="299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8288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1"/>
                </a:solidFill>
                <a:uFillTx/>
                <a:latin typeface="Tahoma"/>
              </a:rPr>
              <a:t>Описание</a:t>
            </a:r>
            <a:endParaRPr b="0" lang="ru-RU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dt" idx="40"/>
          </p:nvPr>
        </p:nvSpPr>
        <p:spPr>
          <a:xfrm>
            <a:off x="1300320" y="11867040"/>
            <a:ext cx="3033000" cy="72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1828800">
              <a:lnSpc>
                <a:spcPct val="100000"/>
              </a:lnSpc>
              <a:buNone/>
              <a:defRPr b="0" lang="ru-RU" sz="2400" strike="noStrike" u="none">
                <a:solidFill>
                  <a:srgbClr val="000000"/>
                </a:solidFill>
                <a:uFillTx/>
                <a:latin typeface="Tahoma"/>
              </a:defRPr>
            </a:lvl1pPr>
          </a:lstStyle>
          <a:p>
            <a:pPr indent="0" defTabSz="1828800">
              <a:lnSpc>
                <a:spcPct val="100000"/>
              </a:lnSpc>
              <a:buNone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Tahoma"/>
              </a:rPr>
              <a:t>Велосборщик</a:t>
            </a:r>
            <a:endParaRPr b="0" lang="ru-RU" sz="2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6" name="Заголовок 1"/>
          <p:cNvSpPr/>
          <p:nvPr/>
        </p:nvSpPr>
        <p:spPr>
          <a:xfrm>
            <a:off x="1298520" y="3372840"/>
            <a:ext cx="196408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1828800">
              <a:lnSpc>
                <a:spcPts val="7699"/>
              </a:lnSpc>
            </a:pPr>
            <a:endParaRPr b="0" lang="ru-RU" sz="60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grpSp>
        <p:nvGrpSpPr>
          <p:cNvPr id="277" name="Группа 16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78" name="Picture 2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9" name="Рисунок 12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0" name="Рисунок 9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81" name=""/>
          <p:cNvSpPr/>
          <p:nvPr/>
        </p:nvSpPr>
        <p:spPr>
          <a:xfrm>
            <a:off x="22320000" y="12600000"/>
            <a:ext cx="126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12/13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Прямоугольник 2"/>
          <p:cNvSpPr/>
          <p:nvPr/>
        </p:nvSpPr>
        <p:spPr>
          <a:xfrm>
            <a:off x="0" y="0"/>
            <a:ext cx="24382080" cy="2880000"/>
          </a:xfrm>
          <a:prstGeom prst="rect">
            <a:avLst/>
          </a:prstGeom>
          <a:solidFill>
            <a:srgbClr val="0541f0"/>
          </a:solidFill>
          <a:ln>
            <a:solidFill>
              <a:srgbClr val="0330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ru-RU" sz="36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sp>
        <p:nvSpPr>
          <p:cNvPr id="283" name="Заголовок 5"/>
          <p:cNvSpPr/>
          <p:nvPr/>
        </p:nvSpPr>
        <p:spPr>
          <a:xfrm>
            <a:off x="1298520" y="3372840"/>
            <a:ext cx="196408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ru-RU" sz="6000" strike="noStrike" u="none">
              <a:solidFill>
                <a:schemeClr val="lt1"/>
              </a:solidFill>
              <a:uFillTx/>
              <a:latin typeface="Tahoma"/>
            </a:endParaRPr>
          </a:p>
        </p:txBody>
      </p:sp>
      <p:grpSp>
        <p:nvGrpSpPr>
          <p:cNvPr id="284" name="Группа 2"/>
          <p:cNvGrpSpPr/>
          <p:nvPr/>
        </p:nvGrpSpPr>
        <p:grpSpPr>
          <a:xfrm>
            <a:off x="13608360" y="21960"/>
            <a:ext cx="10340280" cy="2801880"/>
            <a:chOff x="13608360" y="21960"/>
            <a:chExt cx="10340280" cy="2801880"/>
          </a:xfrm>
        </p:grpSpPr>
        <p:pic>
          <p:nvPicPr>
            <p:cNvPr id="285" name="Picture 3" descr=""/>
            <p:cNvPicPr/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9483560" y="775440"/>
              <a:ext cx="4465080" cy="1052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6" name="Рисунок 3" descr=""/>
            <p:cNvPicPr/>
            <p:nvPr/>
          </p:nvPicPr>
          <p:blipFill>
            <a:blip r:embed="rId2"/>
            <a:stretch/>
          </p:blipFill>
          <p:spPr>
            <a:xfrm>
              <a:off x="13608360" y="264600"/>
              <a:ext cx="2112840" cy="2073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7" name="Рисунок 4" descr=""/>
            <p:cNvPicPr/>
            <p:nvPr/>
          </p:nvPicPr>
          <p:blipFill>
            <a:blip r:embed="rId3"/>
            <a:stretch/>
          </p:blipFill>
          <p:spPr>
            <a:xfrm>
              <a:off x="16062120" y="21960"/>
              <a:ext cx="2801880" cy="28018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88" name=""/>
          <p:cNvSpPr/>
          <p:nvPr/>
        </p:nvSpPr>
        <p:spPr>
          <a:xfrm>
            <a:off x="0" y="2880000"/>
            <a:ext cx="24382440" cy="108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ru-RU" sz="7200" strike="noStrike" u="none">
                <a:solidFill>
                  <a:srgbClr val="000000"/>
                </a:solidFill>
                <a:uFillTx/>
                <a:latin typeface="Arial"/>
              </a:rPr>
              <a:t>Спасибо за внимание</a:t>
            </a:r>
            <a:endParaRPr b="0" lang="ru-RU" sz="7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 pitchFamily="0" charset="1"/>
        <a:ea typeface=""/>
        <a:cs typeface=""/>
      </a:majorFont>
      <a:minorFont>
        <a:latin typeface="Tahom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1077</TotalTime>
  <Application>LibreOffice/24.8.4.2$Windows_X86_64 LibreOffice_project/bb3cfa12c7b1bf994ecc5649a80400d06cd71002</Application>
  <AppVersion>15.0000</AppVersion>
  <Words>102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2022-07-26T11:52:44Z</dcterms:created>
  <dc:creator>ДД</dc:creator>
  <dc:description/>
  <dc:language>ru-RU</dc:language>
  <cp:lastModifiedBy/>
  <dcterms:modified xsi:type="dcterms:W3CDTF">2025-01-24T14:34:16Z</dcterms:modified>
  <cp:revision>122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13</vt:i4>
  </property>
</Properties>
</file>