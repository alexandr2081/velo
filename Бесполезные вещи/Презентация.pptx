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media/image28.png" ContentType="image/png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8.jpeg" ContentType="image/jpeg"/>
  <Override PartName="/ppt/media/image7.png" ContentType="image/png"/>
  <Override PartName="/ppt/media/image9.jpeg" ContentType="image/jpeg"/>
  <Override PartName="/ppt/media/image10.jpeg" ContentType="image/jpe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hdphoto1.wdp" ContentType="image/vnd.ms-photo"/>
  <Override PartName="/ppt/media/image25.png" ContentType="image/png"/>
  <Override PartName="/ppt/media/image15.png" ContentType="image/png"/>
  <Override PartName="/ppt/media/image16.png" ContentType="image/png"/>
  <Override PartName="/ppt/media/hdphoto2.wdp" ContentType="image/vnd.ms-photo"/>
  <Override PartName="/ppt/media/image2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7.png" ContentType="image/png"/>
  <Override PartName="/ppt/media/image29.png" ContentType="image/png"/>
  <Override PartName="/ppt/media/image30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</p:sld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</p:sldIdLst>
  <p:sldSz cx="24382413" cy="13716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380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907457-F9C3-4412-97DE-6631D8C9FB0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44CB56-92EC-43CF-9D12-498F1A22602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31FC2CE-B67E-4D77-8FAC-16D860AEF8D0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61C8A55-461B-4EF9-9E62-83F79D45B34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787120C-E1F9-4422-ABDC-E3BE08C3B5E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AFB9316A-2E75-4589-A5EA-F34BE8D16080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FBC5C8F-62AB-47E5-B87C-FA7B772EE46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FDBD0D3-1393-473B-B2B8-7364544B71C1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B1A3CC1-69BD-4DDF-B8A2-BA531BB7F08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ключитель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380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380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380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380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 или гл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 или глав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29C58EEE-F511-4EC4-9AAA-5F7F64CC2439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F60FD91-E3D8-48C1-9427-7B5FBC926040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EFD7788-0B8D-4C8C-9296-A4F4601CFC27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FEA34198-BEFB-446E-9385-31632F2F7D4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8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5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6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7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8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0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1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2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98520" y="7890840"/>
            <a:ext cx="99518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Рисунок 2" descr=""/>
          <p:cNvPicPr/>
          <p:nvPr/>
        </p:nvPicPr>
        <p:blipFill>
          <a:blip r:embed="rId4"/>
          <a:stretch/>
        </p:blipFill>
        <p:spPr>
          <a:xfrm>
            <a:off x="1390680" y="4776120"/>
            <a:ext cx="2216880" cy="183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Рисунок 3" descr=""/>
          <p:cNvPicPr/>
          <p:nvPr/>
        </p:nvPicPr>
        <p:blipFill>
          <a:blip r:embed="rId5"/>
          <a:stretch/>
        </p:blipFill>
        <p:spPr>
          <a:xfrm>
            <a:off x="8762400" y="4599720"/>
            <a:ext cx="1763280" cy="201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Рисунок 5" descr=""/>
          <p:cNvPicPr/>
          <p:nvPr/>
        </p:nvPicPr>
        <p:blipFill>
          <a:blip r:embed="rId6"/>
          <a:stretch/>
        </p:blipFill>
        <p:spPr>
          <a:xfrm>
            <a:off x="16116480" y="4401720"/>
            <a:ext cx="1923840" cy="221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ftr" idx="2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3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6C5D639F-C06B-4AE9-8668-86599ABA1690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6"/>
          <p:cNvSpPr/>
          <p:nvPr/>
        </p:nvSpPr>
        <p:spPr>
          <a:xfrm>
            <a:off x="12442680" y="4707720"/>
            <a:ext cx="11939040" cy="571212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pic>
        <p:nvPicPr>
          <p:cNvPr id="14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Рисунок 9" descr=""/>
          <p:cNvPicPr/>
          <p:nvPr/>
        </p:nvPicPr>
        <p:blipFill>
          <a:blip r:embed="rId4"/>
          <a:stretch/>
        </p:blipFill>
        <p:spPr>
          <a:xfrm>
            <a:off x="13193280" y="5430240"/>
            <a:ext cx="2166480" cy="181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ftr" idx="4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5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6D04CC03-5CDA-4B2A-BE9D-29BABCD5F60B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25"/>
          <p:cNvSpPr/>
          <p:nvPr/>
        </p:nvSpPr>
        <p:spPr>
          <a:xfrm>
            <a:off x="0" y="4707720"/>
            <a:ext cx="24381720" cy="736920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pic>
        <p:nvPicPr>
          <p:cNvPr id="21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ftr" idx="6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952D599C-F0B9-4FDE-9D1A-3949C9E298DB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/>
        </p:nvSpPr>
        <p:spPr>
          <a:xfrm>
            <a:off x="0" y="3907440"/>
            <a:ext cx="11667960" cy="736920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pic>
        <p:nvPicPr>
          <p:cNvPr id="27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ftr" idx="8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1FC87A7A-37C3-4D94-99CC-5DEDF02134C8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4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ftr" idx="10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FF364990-030C-4D5A-A99B-4CFC1B71B471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9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Прямоугольник 10"/>
          <p:cNvSpPr/>
          <p:nvPr/>
        </p:nvSpPr>
        <p:spPr>
          <a:xfrm>
            <a:off x="0" y="8533800"/>
            <a:ext cx="11939040" cy="339228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pic>
        <p:nvPicPr>
          <p:cNvPr id="41" name="Рисунок 19" descr=""/>
          <p:cNvPicPr/>
          <p:nvPr/>
        </p:nvPicPr>
        <p:blipFill>
          <a:blip r:embed="rId4"/>
          <a:stretch/>
        </p:blipFill>
        <p:spPr>
          <a:xfrm>
            <a:off x="1728720" y="9141840"/>
            <a:ext cx="2285280" cy="189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ftr" idx="12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3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04FE2291-E25B-4996-AA40-DD524BE993D9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6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ftr" idx="14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5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362AAA65-EC18-4C7E-A8FE-51F4C6F73E92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ftr" idx="16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7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AECFAB06-78AE-4602-AE04-76445FB6B1DC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6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ftr" idx="18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19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0BB364A5-45CF-4C44-9D2C-9928EE1DCC03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Рисунок 4" descr=""/>
          <p:cNvPicPr/>
          <p:nvPr/>
        </p:nvPicPr>
        <p:blipFill>
          <a:blip r:embed="rId3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dt" idx="20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380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98520" y="7890840"/>
            <a:ext cx="99518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dt" idx="21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98520" y="7890840"/>
            <a:ext cx="99518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3440" cy="79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22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dt" idx="23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0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ftr" idx="24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25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4705EFDC-3A69-4406-9AEF-C559ED6133A5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5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ftr" idx="26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27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DAD0A2C6-810E-4486-BB23-D643BE4B40E3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0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ftr" idx="28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29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5A4540D5-4D8A-4538-9C53-B024E5FF5A3C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17"/>
          <p:cNvSpPr/>
          <p:nvPr/>
        </p:nvSpPr>
        <p:spPr>
          <a:xfrm>
            <a:off x="19811880" y="655560"/>
            <a:ext cx="327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5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280" cy="9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ftr" idx="30"/>
          </p:nvPr>
        </p:nvSpPr>
        <p:spPr>
          <a:xfrm>
            <a:off x="1302480" y="12664440"/>
            <a:ext cx="695160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31"/>
          </p:nvPr>
        </p:nvSpPr>
        <p:spPr>
          <a:xfrm>
            <a:off x="19811880" y="12630960"/>
            <a:ext cx="328896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tabLst>
                <a:tab algn="l" pos="0"/>
              </a:tabLst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  <a:tabLst>
                <a:tab algn="l" pos="0"/>
              </a:tabLst>
            </a:pPr>
            <a:fld id="{AD12F4DB-AF11-4DD6-BEEE-B24F05C9127A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microsoft.com/office/2007/relationships/hdphoto" Target="../media/hdphoto1.wdp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microsoft.com/office/2007/relationships/hdphoto" Target="../media/hdphoto2.wdp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Прямоугольник 1"/>
          <p:cNvSpPr/>
          <p:nvPr/>
        </p:nvSpPr>
        <p:spPr>
          <a:xfrm>
            <a:off x="0" y="667440"/>
            <a:ext cx="4835520" cy="219672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99" name="PlaceHolder 4"/>
          <p:cNvSpPr txBox="1"/>
          <p:nvPr/>
        </p:nvSpPr>
        <p:spPr>
          <a:xfrm>
            <a:off x="346680" y="3088800"/>
            <a:ext cx="8364960" cy="470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847800">
              <a:lnSpc>
                <a:spcPts val="2999"/>
              </a:lnSpc>
              <a:tabLst>
                <a:tab algn="l" pos="0"/>
              </a:tabLst>
            </a:pPr>
            <a:r>
              <a:rPr b="1" lang="ru-RU" sz="4400" strike="noStrike" u="none">
                <a:solidFill>
                  <a:schemeClr val="accent1">
                    <a:lumMod val="45000"/>
                    <a:lumOff val="55000"/>
                  </a:schemeClr>
                </a:solidFill>
                <a:uFillTx/>
                <a:latin typeface="Tahoma"/>
              </a:rPr>
              <a:t>Индивидуальный проект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5"/>
          <p:cNvSpPr txBox="1"/>
          <p:nvPr/>
        </p:nvSpPr>
        <p:spPr>
          <a:xfrm>
            <a:off x="12600000" y="8460000"/>
            <a:ext cx="11520000" cy="479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9999"/>
          </a:bodyPr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Участник: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ученик ИТ-класса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ГБОУ Школа №1195</a:t>
            </a:r>
            <a:r>
              <a:rPr b="1" lang="ru-RU" sz="3600" strike="noStrike" u="none">
                <a:solidFill>
                  <a:srgbClr val="000000"/>
                </a:solidFill>
                <a:uFillTx/>
                <a:latin typeface="Tahoma"/>
                <a:ea typeface="Tahoma"/>
              </a:rPr>
              <a:t> </a:t>
            </a:r>
            <a:br>
              <a:rPr sz="3600"/>
            </a:b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имени Героя Советского Союза П.И. Меренкова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Булычев Алексей Андреевич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Руководитель: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учитель информатики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ГБОУ Школа №1195</a:t>
            </a:r>
            <a:br>
              <a:rPr sz="3600"/>
            </a:b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имени Героя Советского Союза П.И. Меренкова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1828800">
              <a:lnSpc>
                <a:spcPct val="100000"/>
              </a:lnSpc>
              <a:tabLst>
                <a:tab algn="l" pos="0"/>
              </a:tabLst>
            </a:pPr>
            <a:r>
              <a:rPr b="1" lang="ru-RU" sz="36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Татьяна Павловна Боцуляк</a:t>
            </a:r>
            <a:endParaRPr b="1" lang="ru-RU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1" name="Рисунок 2" descr=""/>
          <p:cNvPicPr/>
          <p:nvPr/>
        </p:nvPicPr>
        <p:blipFill>
          <a:blip r:embed="rId1"/>
          <a:srcRect l="0" t="0" r="0" b="13536"/>
          <a:stretch/>
        </p:blipFill>
        <p:spPr>
          <a:xfrm>
            <a:off x="9774000" y="1107360"/>
            <a:ext cx="5882040" cy="141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Заголовок 2"/>
          <p:cNvSpPr/>
          <p:nvPr/>
        </p:nvSpPr>
        <p:spPr>
          <a:xfrm>
            <a:off x="9897480" y="5550480"/>
            <a:ext cx="522252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828800">
              <a:lnSpc>
                <a:spcPct val="100000"/>
              </a:lnSpc>
            </a:pPr>
            <a:r>
              <a:rPr b="1" lang="ru-RU" sz="54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Велосборщик</a:t>
            </a:r>
            <a:endParaRPr b="0" lang="ru-RU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3" name="Рисунок 8" descr=""/>
          <p:cNvPicPr/>
          <p:nvPr/>
        </p:nvPicPr>
        <p:blipFill>
          <a:blip r:embed="rId2"/>
          <a:srcRect l="31767" t="41786" r="30561" b="42541"/>
          <a:stretch/>
        </p:blipFill>
        <p:spPr>
          <a:xfrm>
            <a:off x="5067360" y="1239480"/>
            <a:ext cx="4835520" cy="142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Рисунок 10" descr=""/>
          <p:cNvPicPr/>
          <p:nvPr/>
        </p:nvPicPr>
        <p:blipFill>
          <a:blip r:embed="rId3"/>
          <a:stretch/>
        </p:blipFill>
        <p:spPr>
          <a:xfrm>
            <a:off x="347040" y="-464040"/>
            <a:ext cx="4604040" cy="460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7450920" cy="312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Проблема</a:t>
            </a:r>
            <a:endParaRPr b="0" lang="ru-RU" sz="8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720000" y="3960000"/>
            <a:ext cx="14399640" cy="299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768240" indent="-22860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	</a:t>
            </a: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	</a:t>
            </a: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Проблема моего проекта — отсутствие универсальных (и каких-либо русскоязычных) ресурсов для создания велосипедов любого уровня, ценника и класса, эта проблема касается таких слоёв населения, как велолюбители, начинающие велосипедисты и специалисты-конструкторы.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32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108" name="Группа 9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09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0" name="Рисунок 12" descr=""/>
            <p:cNvPicPr/>
            <p:nvPr/>
          </p:nvPicPr>
          <p:blipFill>
            <a:blip r:embed="rId3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Рисунок 13" descr=""/>
            <p:cNvPicPr/>
            <p:nvPr/>
          </p:nvPicPr>
          <p:blipFill>
            <a:blip r:embed="rId4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2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2/13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7450920" cy="312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Цель проекта</a:t>
            </a:r>
            <a:endParaRPr b="0" lang="ru-RU" sz="8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207800" y="3847320"/>
            <a:ext cx="11931840" cy="299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768240" indent="-22860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	</a:t>
            </a: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	</a:t>
            </a: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Создать ресурс (веб-приложение) на котором пользователи смогут легко создавать собственные велосипедные сборки, изменять, брать готовые и после скачивать их,  а также получать информацию о различных моделях и компонентах.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33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116" name="Группа 9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17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8" name="Рисунок 16" descr=""/>
            <p:cNvPicPr/>
            <p:nvPr/>
          </p:nvPicPr>
          <p:blipFill>
            <a:blip r:embed="rId3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9" name="Рисунок 17" descr=""/>
            <p:cNvPicPr/>
            <p:nvPr/>
          </p:nvPicPr>
          <p:blipFill>
            <a:blip r:embed="rId4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0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3/13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60000" y="1800000"/>
            <a:ext cx="13412520" cy="312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7200" strike="noStrike" u="none">
                <a:solidFill>
                  <a:schemeClr val="lt1"/>
                </a:solidFill>
                <a:uFillTx/>
                <a:latin typeface="Tahoma"/>
              </a:rPr>
              <a:t>Планируемые сроки и этапы реализации до прототипа</a:t>
            </a:r>
            <a:endParaRPr b="0" lang="ru-RU" sz="7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dt" idx="34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123" name="Группа 9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24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5" name="Рисунок 16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6" name="Рисунок 17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7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4/13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4"/>
          <a:stretch/>
        </p:blipFill>
        <p:spPr>
          <a:xfrm>
            <a:off x="1440000" y="4140000"/>
            <a:ext cx="21664800" cy="75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Прямоугольник 14"/>
          <p:cNvSpPr/>
          <p:nvPr/>
        </p:nvSpPr>
        <p:spPr>
          <a:xfrm>
            <a:off x="0" y="0"/>
            <a:ext cx="24381720" cy="49370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1080000" y="5467320"/>
            <a:ext cx="10260000" cy="299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just">
              <a:lnSpc>
                <a:spcPct val="150000"/>
              </a:lnSpc>
            </a:pPr>
            <a:r>
              <a:rPr b="0" lang="ru-RU" sz="3600" strike="noStrike" u="none">
                <a:solidFill>
                  <a:srgbClr val="000000"/>
                </a:solidFill>
                <a:uFillTx/>
                <a:latin typeface="Tahoma"/>
                <a:ea typeface="Times New Roman"/>
              </a:rPr>
              <a:t>1. Выбор технологий: Для разработки веб-приложения было решено использовать Python и библиотеку Flask в качестве основного фреймворка, что обеспечивает простоту и гибкость для создания серверной части.</a:t>
            </a:r>
            <a:endParaRPr b="0" lang="ru-RU" sz="36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dt" idx="35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2" name="Заголовок 1"/>
          <p:cNvSpPr/>
          <p:nvPr/>
        </p:nvSpPr>
        <p:spPr>
          <a:xfrm>
            <a:off x="1298520" y="3372840"/>
            <a:ext cx="19640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828800">
              <a:lnSpc>
                <a:spcPts val="7699"/>
              </a:lnSpc>
            </a:pPr>
            <a:r>
              <a:rPr b="0" lang="ru-RU" sz="6600" strike="noStrike" u="none">
                <a:solidFill>
                  <a:schemeClr val="lt1"/>
                </a:solidFill>
                <a:uFillTx/>
                <a:latin typeface="Tahoma"/>
              </a:rPr>
              <a:t>Процесс создания продукта</a:t>
            </a:r>
            <a:endParaRPr b="0" lang="ru-RU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3" name="Группа 16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34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5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7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5/13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4"/>
          <a:stretch/>
        </p:blipFill>
        <p:spPr>
          <a:xfrm>
            <a:off x="7740000" y="9693360"/>
            <a:ext cx="4320000" cy="38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 descr=""/>
          <p:cNvPicPr/>
          <p:nvPr/>
        </p:nvPicPr>
        <p:blipFill>
          <a:blip r:embed="rId5"/>
          <a:stretch/>
        </p:blipFill>
        <p:spPr>
          <a:xfrm>
            <a:off x="11700000" y="5198040"/>
            <a:ext cx="12420000" cy="722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Прямоугольник 14"/>
          <p:cNvSpPr/>
          <p:nvPr/>
        </p:nvSpPr>
        <p:spPr>
          <a:xfrm>
            <a:off x="0" y="0"/>
            <a:ext cx="24381720" cy="49370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629640" y="5290200"/>
            <a:ext cx="10170360" cy="442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just">
              <a:lnSpc>
                <a:spcPct val="150000"/>
              </a:lnSpc>
            </a:pPr>
            <a:r>
              <a:rPr b="0" lang="ru-RU" sz="3600" strike="noStrike" u="none">
                <a:solidFill>
                  <a:srgbClr val="000000"/>
                </a:solidFill>
                <a:uFillTx/>
                <a:latin typeface="Tahoma"/>
                <a:ea typeface="Times New Roman"/>
              </a:rPr>
              <a:t>2. Создание шаблонов: Весь контент сайта был структурирован с помощью HTML, что дало возможность организовать страницы. Для оформления использовались классы Bootstrap, что обеспечило современный и отзывчивый дизайн.</a:t>
            </a:r>
            <a:endParaRPr b="0" lang="ru-RU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dt" idx="36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3" name="Заголовок 1"/>
          <p:cNvSpPr/>
          <p:nvPr/>
        </p:nvSpPr>
        <p:spPr>
          <a:xfrm>
            <a:off x="1298520" y="3372840"/>
            <a:ext cx="19640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828800">
              <a:lnSpc>
                <a:spcPts val="7699"/>
              </a:lnSpc>
            </a:pPr>
            <a:r>
              <a:rPr b="0" lang="ru-RU" sz="6600" strike="noStrike" u="none">
                <a:solidFill>
                  <a:schemeClr val="lt1"/>
                </a:solidFill>
                <a:uFillTx/>
                <a:latin typeface="Tahoma"/>
              </a:rPr>
              <a:t>Процесс создания продукта</a:t>
            </a:r>
            <a:endParaRPr b="0" lang="ru-RU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44" name="Группа 16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45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6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8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6/13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4"/>
          <a:stretch/>
        </p:blipFill>
        <p:spPr>
          <a:xfrm>
            <a:off x="18540000" y="5220000"/>
            <a:ext cx="4785480" cy="38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5"/>
          <a:stretch/>
        </p:blipFill>
        <p:spPr>
          <a:xfrm>
            <a:off x="6894720" y="9720000"/>
            <a:ext cx="132840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Прямоугольник 3"/>
          <p:cNvSpPr/>
          <p:nvPr/>
        </p:nvSpPr>
        <p:spPr>
          <a:xfrm>
            <a:off x="0" y="0"/>
            <a:ext cx="24381720" cy="49370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subTitle"/>
          </p:nvPr>
        </p:nvSpPr>
        <p:spPr>
          <a:xfrm>
            <a:off x="1080000" y="5580000"/>
            <a:ext cx="8100000" cy="442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just">
              <a:lnSpc>
                <a:spcPct val="15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Tahoma"/>
                <a:ea typeface="Times New Roman"/>
              </a:rPr>
              <a:t>3. Динамика сайта: При внедрении фильтров, всплывающих окон и выпадающих списков стало понятно, что сайту необходима подвижность, динамичность, для её создания был использован язык JavaScript, внедрённый в HTML-шаблон, а впоследствии вынесенный в отдельный файл.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dt" idx="37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4" name="Заголовок 3"/>
          <p:cNvSpPr/>
          <p:nvPr/>
        </p:nvSpPr>
        <p:spPr>
          <a:xfrm>
            <a:off x="1298520" y="3372840"/>
            <a:ext cx="19640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828800">
              <a:lnSpc>
                <a:spcPts val="7699"/>
              </a:lnSpc>
            </a:pPr>
            <a:r>
              <a:rPr b="0" lang="ru-RU" sz="6600" strike="noStrike" u="none">
                <a:solidFill>
                  <a:schemeClr val="lt1"/>
                </a:solidFill>
                <a:uFillTx/>
                <a:latin typeface="Tahoma"/>
              </a:rPr>
              <a:t>Процесс создания продукта</a:t>
            </a:r>
            <a:endParaRPr b="0" lang="ru-RU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55" name="Группа 3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56" name="Picture 4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7" name="Рисунок 5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8" name="Рисунок 6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9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6/13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4"/>
          <a:stretch/>
        </p:blipFill>
        <p:spPr>
          <a:xfrm>
            <a:off x="9798840" y="5040000"/>
            <a:ext cx="14415840" cy="64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5"/>
          <a:stretch/>
        </p:blipFill>
        <p:spPr>
          <a:xfrm>
            <a:off x="7589520" y="10829520"/>
            <a:ext cx="1950480" cy="195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Прямоугольник 14"/>
          <p:cNvSpPr/>
          <p:nvPr/>
        </p:nvSpPr>
        <p:spPr>
          <a:xfrm>
            <a:off x="0" y="0"/>
            <a:ext cx="24381720" cy="49370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ubTitle"/>
          </p:nvPr>
        </p:nvSpPr>
        <p:spPr>
          <a:xfrm>
            <a:off x="900000" y="5467320"/>
            <a:ext cx="12240000" cy="299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just">
              <a:lnSpc>
                <a:spcPct val="150000"/>
              </a:lnSpc>
            </a:pPr>
            <a:r>
              <a:rPr b="0" lang="ru-RU" sz="3600" strike="noStrike" u="none">
                <a:solidFill>
                  <a:srgbClr val="000000"/>
                </a:solidFill>
                <a:uFillTx/>
                <a:latin typeface="Tahoma"/>
                <a:ea typeface="Times New Roman"/>
              </a:rPr>
              <a:t>3. Работа с базой данных: Для хранения и управления данными использовалась ORM-библиотека SQLAlchemy, которая обеспечила удобный способ работы с базой данных. В качестве базы данных была выбрана SQLite, что дало возможность легко интегрировать и управлять данными без необходимости создания отдельного сервера.</a:t>
            </a:r>
            <a:endParaRPr b="0" lang="ru-RU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dt" idx="38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5" name="Заголовок 1"/>
          <p:cNvSpPr/>
          <p:nvPr/>
        </p:nvSpPr>
        <p:spPr>
          <a:xfrm>
            <a:off x="1298520" y="3372840"/>
            <a:ext cx="19640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828800">
              <a:lnSpc>
                <a:spcPts val="7699"/>
              </a:lnSpc>
            </a:pPr>
            <a:r>
              <a:rPr b="0" lang="ru-RU" sz="6600" strike="noStrike" u="none">
                <a:solidFill>
                  <a:schemeClr val="lt1"/>
                </a:solidFill>
                <a:uFillTx/>
                <a:latin typeface="Tahoma"/>
              </a:rPr>
              <a:t>Процесс создания продукта</a:t>
            </a:r>
            <a:endParaRPr b="0" lang="ru-RU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6" name="Группа 16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67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9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0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7/13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4"/>
          <a:stretch/>
        </p:blipFill>
        <p:spPr>
          <a:xfrm>
            <a:off x="13545000" y="5114520"/>
            <a:ext cx="10655280" cy="67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" descr=""/>
          <p:cNvPicPr/>
          <p:nvPr/>
        </p:nvPicPr>
        <p:blipFill>
          <a:blip r:embed="rId5"/>
          <a:stretch/>
        </p:blipFill>
        <p:spPr>
          <a:xfrm>
            <a:off x="5400000" y="11160000"/>
            <a:ext cx="5933880" cy="233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Прямоугольник 14"/>
          <p:cNvSpPr/>
          <p:nvPr/>
        </p:nvSpPr>
        <p:spPr>
          <a:xfrm>
            <a:off x="0" y="0"/>
            <a:ext cx="12953160" cy="1371528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0834920" cy="312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Продукт проекта</a:t>
            </a:r>
            <a:endParaRPr b="0" lang="ru-RU" sz="8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1207800" y="3487320"/>
            <a:ext cx="11392200" cy="299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	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Сайт Велосборщик — веб-приложение, написанное на </a:t>
            </a:r>
            <a:r>
              <a:rPr b="0" lang="en-US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Python 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при помощи библиотеки </a:t>
            </a:r>
            <a:r>
              <a:rPr b="0" lang="en-US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flask. 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Все шаблоны страниц сайта делались на </a:t>
            </a:r>
            <a:r>
              <a:rPr b="0" lang="en-US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HTML – 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языке гипертекстовой разметки для структурирования и оформления с использованием классов </a:t>
            </a:r>
            <a:r>
              <a:rPr b="0" lang="en-US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Bootstrap. Д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ля динамичности сайта использовался язык </a:t>
            </a:r>
            <a:r>
              <a:rPr b="0" lang="en-US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JavaScript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. Работа с БД выполнялась через библиотеку</a:t>
            </a:r>
            <a:r>
              <a:rPr b="0" lang="en-US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 ORM sqlalchemy, 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сама база данных — </a:t>
            </a:r>
            <a:r>
              <a:rPr b="0" lang="en-US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SqlLite</a:t>
            </a:r>
            <a:r>
              <a:rPr b="0" lang="ru-RU" sz="36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.</a:t>
            </a:r>
            <a:endParaRPr b="0" lang="ru-RU" sz="36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39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77" name="Рисунок 11" descr=""/>
          <p:cNvPicPr/>
          <p:nvPr/>
        </p:nvPicPr>
        <p:blipFill>
          <a:blip r:embed="rId1"/>
          <a:stretch/>
        </p:blipFill>
        <p:spPr>
          <a:xfrm>
            <a:off x="19244160" y="542520"/>
            <a:ext cx="5158440" cy="14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Рисунок 1" descr=""/>
          <p:cNvPicPr/>
          <p:nvPr/>
        </p:nvPicPr>
        <p:blipFill>
          <a:blip r:embed="rId2"/>
          <a:stretch/>
        </p:blipFill>
        <p:spPr>
          <a:xfrm>
            <a:off x="13416840" y="166680"/>
            <a:ext cx="2224440" cy="218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Рисунок 26" descr=""/>
          <p:cNvPicPr/>
          <p:nvPr/>
        </p:nvPicPr>
        <p:blipFill>
          <a:blip r:embed="rId3"/>
          <a:stretch/>
        </p:blipFill>
        <p:spPr>
          <a:xfrm>
            <a:off x="16062120" y="21960"/>
            <a:ext cx="2801520" cy="280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8/13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4"/>
          <a:stretch/>
        </p:blipFill>
        <p:spPr>
          <a:xfrm>
            <a:off x="13269960" y="4860000"/>
            <a:ext cx="10850040" cy="483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330920" y="1730160"/>
            <a:ext cx="14148720" cy="312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Сравнение с аналогами</a:t>
            </a:r>
            <a:endParaRPr b="0" lang="ru-RU" sz="8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1080000" y="3307320"/>
            <a:ext cx="21240000" cy="299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817200" indent="-22860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	</a:t>
            </a:r>
            <a:r>
              <a:rPr b="0" i="1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	</a:t>
            </a:r>
            <a:r>
              <a:rPr b="0" i="1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Обзор имеющихся решений/аналогов</a:t>
            </a:r>
            <a:r>
              <a:rPr b="0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 — В ходе исследования я нашёл 4 подобных сайта: </a:t>
            </a:r>
            <a:endParaRPr b="0" lang="ru-RU" sz="3200" strike="noStrike" u="none">
              <a:solidFill>
                <a:srgbClr val="ffffff"/>
              </a:solidFill>
              <a:uFillTx/>
              <a:latin typeface="Tahoma"/>
            </a:endParaRPr>
          </a:p>
          <a:p>
            <a:pPr marL="8172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1. bmx_configurator— сайт для создания </a:t>
            </a:r>
            <a:r>
              <a:rPr b="0" lang="en-US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BMX-</a:t>
            </a:r>
            <a:r>
              <a:rPr b="0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велосипедов, что охватывает довольно узкий круг моделей</a:t>
            </a:r>
            <a:endParaRPr b="0" lang="ru-RU" sz="3200" strike="noStrike" u="none">
              <a:solidFill>
                <a:srgbClr val="ffffff"/>
              </a:solidFill>
              <a:uFillTx/>
              <a:latin typeface="Tahoma"/>
            </a:endParaRPr>
          </a:p>
          <a:p>
            <a:pPr marL="8172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2. Fanatik bike— сайт для кастомизации велосипедов исключительно профессионального уровня</a:t>
            </a:r>
            <a:endParaRPr b="0" lang="ru-RU" sz="3200" strike="noStrike" u="none">
              <a:solidFill>
                <a:srgbClr val="ffffff"/>
              </a:solidFill>
              <a:uFillTx/>
              <a:latin typeface="Tahoma"/>
            </a:endParaRPr>
          </a:p>
          <a:p>
            <a:pPr marL="8172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3. Bikology (builder)— аналогично с прошлым примером</a:t>
            </a:r>
            <a:endParaRPr b="0" lang="ru-RU" sz="3200" strike="noStrike" u="none">
              <a:solidFill>
                <a:srgbClr val="ffffff"/>
              </a:solidFill>
              <a:uFillTx/>
              <a:latin typeface="Tahoma"/>
            </a:endParaRPr>
          </a:p>
          <a:p>
            <a:pPr marL="8172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ffffff"/>
                </a:solidFill>
                <a:uFillTx/>
                <a:latin typeface="Tahoma"/>
                <a:ea typeface="Times New Roman"/>
              </a:rPr>
              <a:t>4. Wilier (configurator)— сайт для создания дизайна велосипеда, однако ничего, кроме вида его раскраски, изменять не предполагается</a:t>
            </a:r>
            <a:endParaRPr b="0" lang="ru-RU" sz="3200" strike="noStrike" u="none">
              <a:solidFill>
                <a:srgbClr val="ffffff"/>
              </a:solidFill>
              <a:uFillTx/>
              <a:latin typeface="Tahoma"/>
            </a:endParaRPr>
          </a:p>
          <a:p>
            <a:pPr marL="817200"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ru-RU" sz="3200" strike="noStrike" u="none">
              <a:solidFill>
                <a:srgbClr val="ffffff"/>
              </a:solidFill>
              <a:uFillTx/>
              <a:latin typeface="Tahoma"/>
            </a:endParaRPr>
          </a:p>
          <a:p>
            <a:pPr marL="8172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	</a:t>
            </a:r>
            <a:r>
              <a:rPr b="0" lang="ru-RU" sz="32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Также, у каждого из вышеперечисленных сайтов отсутствует русский язык и каждый из интернет-магазинов, представляющих эти сайты, дислоцируется в Северной Америке (США или Канада), что исключает возможность заказа собранного велосипеда без дополнительных комиссий, наценок и тп в РФ.</a:t>
            </a:r>
            <a:endParaRPr b="0" lang="ru-RU" sz="3200" strike="noStrike" u="none">
              <a:solidFill>
                <a:srgbClr val="ffffff"/>
              </a:solidFill>
              <a:uFillTx/>
              <a:latin typeface="Tahoma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40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185" name="Группа 9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86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7" name="Рисунок 16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8" name="Рисунок 17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9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9/13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0834920" cy="312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Экономическая составляющая</a:t>
            </a:r>
            <a:endParaRPr b="0" lang="ru-RU" sz="8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ubTitle"/>
          </p:nvPr>
        </p:nvSpPr>
        <p:spPr>
          <a:xfrm>
            <a:off x="1207800" y="5107320"/>
            <a:ext cx="11211840" cy="299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	</a:t>
            </a: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Весь проект написан программным кодом, который является умственным трудом, но не материальными затратами, однако, если учитывать 1 час начинающего программиста равным 300 рублям, то общая сумма складывается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120 час * 500 руб = 60 000 руб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Аннотация к проекту (печать) = 200 руб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Итого: 60 200 рублей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dt" idx="41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193" name="Группа 9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194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5" name="Рисунок 16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6" name="Рисунок 17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7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10/13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4"/>
          <a:stretch/>
        </p:blipFill>
        <p:spPr>
          <a:xfrm>
            <a:off x="13160520" y="3406680"/>
            <a:ext cx="10959480" cy="775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Прямоугольник 14"/>
          <p:cNvSpPr/>
          <p:nvPr/>
        </p:nvSpPr>
        <p:spPr>
          <a:xfrm>
            <a:off x="0" y="0"/>
            <a:ext cx="24381720" cy="49370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7296120" cy="120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Заключение</a:t>
            </a:r>
            <a:endParaRPr b="0" lang="ru-RU" sz="8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dt" idx="42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2" name="Заголовок 1"/>
          <p:cNvSpPr/>
          <p:nvPr/>
        </p:nvSpPr>
        <p:spPr>
          <a:xfrm>
            <a:off x="1298520" y="3372840"/>
            <a:ext cx="19640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828800">
              <a:lnSpc>
                <a:spcPts val="7699"/>
              </a:lnSpc>
            </a:pPr>
            <a:endParaRPr b="0" lang="ru-RU" sz="60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grpSp>
        <p:nvGrpSpPr>
          <p:cNvPr id="203" name="Группа 16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204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5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6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07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11/13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760000" y="5400000"/>
            <a:ext cx="13140000" cy="288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Несмотря на текущие трудности с заполнением базы данных, удалось разработать функциональный веб-приложение с интуитивно понятным интерфейсом и привлекательным дизайном.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920000" y="8280000"/>
            <a:ext cx="8639640" cy="48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Итог проекта "Сайт Велосборщик" состоит в создании интернет-платформы, позволяющей пользователям легко и удобно настраивать индивидуальные велосипеды, получая доступ к широкому выбору компонентов и информации о них. 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Прямоугольник 14"/>
          <p:cNvSpPr/>
          <p:nvPr/>
        </p:nvSpPr>
        <p:spPr>
          <a:xfrm>
            <a:off x="0" y="0"/>
            <a:ext cx="24381720" cy="49370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2047040" cy="120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  <a:tabLst>
                <a:tab algn="l" pos="0"/>
              </a:tabLst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Список используемой литературы</a:t>
            </a:r>
            <a:endParaRPr b="0" lang="ru-RU" sz="8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dt" idx="43"/>
          </p:nvPr>
        </p:nvSpPr>
        <p:spPr>
          <a:xfrm>
            <a:off x="1300320" y="11867040"/>
            <a:ext cx="3032640" cy="72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tabLst>
                <a:tab algn="l" pos="0"/>
              </a:tabLst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3" name="Заголовок 1"/>
          <p:cNvSpPr/>
          <p:nvPr/>
        </p:nvSpPr>
        <p:spPr>
          <a:xfrm>
            <a:off x="1298520" y="3372840"/>
            <a:ext cx="19640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828800">
              <a:lnSpc>
                <a:spcPts val="7699"/>
              </a:lnSpc>
            </a:pPr>
            <a:endParaRPr b="0" lang="ru-RU" sz="60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grpSp>
        <p:nvGrpSpPr>
          <p:cNvPr id="214" name="Группа 16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215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6" name="Рисунок 12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7" name="Рисунок 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8" name=""/>
          <p:cNvSpPr/>
          <p:nvPr/>
        </p:nvSpPr>
        <p:spPr>
          <a:xfrm>
            <a:off x="22320000" y="12600000"/>
            <a:ext cx="125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12/13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4"/>
          <a:stretch/>
        </p:blipFill>
        <p:spPr>
          <a:xfrm>
            <a:off x="8100000" y="4992120"/>
            <a:ext cx="8460000" cy="844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Прямоугольник 2"/>
          <p:cNvSpPr/>
          <p:nvPr/>
        </p:nvSpPr>
        <p:spPr>
          <a:xfrm>
            <a:off x="0" y="0"/>
            <a:ext cx="24381720" cy="28796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21" name="Заголовок 5"/>
          <p:cNvSpPr/>
          <p:nvPr/>
        </p:nvSpPr>
        <p:spPr>
          <a:xfrm>
            <a:off x="1298520" y="3372840"/>
            <a:ext cx="19640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60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grpSp>
        <p:nvGrpSpPr>
          <p:cNvPr id="222" name="Группа 2"/>
          <p:cNvGrpSpPr/>
          <p:nvPr/>
        </p:nvGrpSpPr>
        <p:grpSpPr>
          <a:xfrm>
            <a:off x="13608360" y="21960"/>
            <a:ext cx="10339920" cy="2801520"/>
            <a:chOff x="13608360" y="21960"/>
            <a:chExt cx="10339920" cy="2801520"/>
          </a:xfrm>
        </p:grpSpPr>
        <p:pic>
          <p:nvPicPr>
            <p:cNvPr id="223" name="Picture 3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4720" cy="105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4" name="Рисунок 3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480" cy="207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5" name="Рисунок 4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520" cy="2801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6" name=""/>
          <p:cNvSpPr/>
          <p:nvPr/>
        </p:nvSpPr>
        <p:spPr>
          <a:xfrm>
            <a:off x="0" y="2880000"/>
            <a:ext cx="24382080" cy="10835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7200" strike="noStrike" u="none">
                <a:solidFill>
                  <a:srgbClr val="000000"/>
                </a:solidFill>
                <a:uFillTx/>
                <a:latin typeface="Arial"/>
              </a:rPr>
              <a:t>Спасибо за внимание</a:t>
            </a:r>
            <a:endParaRPr b="0" lang="ru-RU" sz="7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1246</TotalTime>
  <Application>LibreOffice/24.8.4.2$Windows_X86_64 LibreOffice_project/bb3cfa12c7b1bf994ecc5649a80400d06cd71002</Application>
  <AppVersion>15.0000</AppVersion>
  <Words>102</Words>
  <Paragraphs>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2022-07-26T11:52:44Z</dcterms:created>
  <dc:creator>ДД</dc:creator>
  <dc:description/>
  <dc:language>ru-RU</dc:language>
  <cp:lastModifiedBy/>
  <dcterms:modified xsi:type="dcterms:W3CDTF">2025-02-13T22:16:58Z</dcterms:modified>
  <cp:revision>153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13</vt:i4>
  </property>
</Properties>
</file>