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8.jpeg" ContentType="image/jpeg"/>
  <Override PartName="/ppt/media/image7.png" ContentType="image/png"/>
  <Override PartName="/ppt/media/image9.jpeg" ContentType="image/jpeg"/>
  <Override PartName="/ppt/media/image10.jpeg" ContentType="image/jpe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hdphoto1.wdp" ContentType="image/vnd.ms-photo"/>
  <Override PartName="/ppt/media/image2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6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4" r:id="rId14"/>
    <p:sldMasterId id="2147483676" r:id="rId15"/>
    <p:sldMasterId id="2147483678" r:id="rId16"/>
    <p:sldMasterId id="2147483680" r:id="rId17"/>
    <p:sldMasterId id="2147483682" r:id="rId18"/>
    <p:sldMasterId id="2147483684" r:id="rId19"/>
    <p:sldMasterId id="2147483686" r:id="rId20"/>
  </p:sld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</p:sldIdLst>
  <p:sldSz cx="24382413" cy="1371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578A324-087B-47FF-A1F8-E90048AB0DE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CC11BD-346F-4A0C-9118-F101B5A23905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77177055-AF21-49FC-8815-132DCE80238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5B6AE0F-CB95-4F99-9830-C20D5367B804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зображе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9EB62C-CACC-470E-A4B0-D708EE31EC64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зображения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D0DEE627-7EF3-483B-A7B9-5DA8B17E0963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0CAEA7C-3306-4BC7-AF0E-88906D0231C3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График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34F3FD-C666-4475-B309-5A5524308236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344D09A0-DA32-408D-AC53-11A314EC39E3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ключитель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5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E187E61-1EF3-4DF3-B67D-D46FB55BBC0B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497B10BC-201E-481F-895C-948F55E2048E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21CD6E8-2953-4562-89F9-67E012A4877F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Булли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266D70A-BEE7-4E44-B8E4-B1A34A70D644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5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6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8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9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0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1.png"/><Relationship Id="rId8" Type="http://schemas.openxmlformats.org/officeDocument/2006/relationships/image" Target="../media/image11.png"/><Relationship Id="rId9" Type="http://schemas.openxmlformats.org/officeDocument/2006/relationships/image" Target="../media/image11.png"/><Relationship Id="rId10" Type="http://schemas.openxmlformats.org/officeDocument/2006/relationships/slideLayout" Target="../slideLayouts/slideLayout2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298520" y="5185800"/>
            <a:ext cx="9952200" cy="38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dk2"/>
                </a:solidFill>
                <a:uFillTx/>
                <a:latin typeface="Tahoma"/>
              </a:rPr>
              <a:t>Заголовок презентации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5600" strike="noStrike" u="none">
                <a:solidFill>
                  <a:schemeClr val="dk1"/>
                </a:solidFill>
                <a:uFillTx/>
                <a:latin typeface="Tahoma"/>
              </a:rPr>
              <a:t>Для правки структуры щёлкните мышью</a:t>
            </a:r>
            <a:endParaRPr b="0" lang="ru-RU" sz="5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000" strike="noStrike" u="none">
                <a:solidFill>
                  <a:schemeClr val="dk1"/>
                </a:solidFill>
                <a:uFillTx/>
                <a:latin typeface="Tahoma"/>
              </a:rPr>
              <a:t>Второй уровень структуры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Третий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Четвёртый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6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298520" y="7924680"/>
            <a:ext cx="6936480" cy="37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Управление науки формирует приоритетные направления научно-исследовательской деятельности университета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с целью создания и освоения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новых технологий, становления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развития научных школ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1338120" y="7037640"/>
            <a:ext cx="689652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Достижения науки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2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3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6EE0C203-7874-4548-BD6D-F6EB9A597533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7"/>
          <p:cNvSpPr>
            <a:spLocks noGrp="1"/>
          </p:cNvSpPr>
          <p:nvPr>
            <p:ph type="body"/>
          </p:nvPr>
        </p:nvSpPr>
        <p:spPr>
          <a:xfrm>
            <a:off x="8674200" y="7037640"/>
            <a:ext cx="693684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Научное сообщество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body"/>
          </p:nvPr>
        </p:nvSpPr>
        <p:spPr>
          <a:xfrm>
            <a:off x="16054560" y="7037640"/>
            <a:ext cx="693684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События отрасли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" name="PlaceHolder 9"/>
          <p:cNvSpPr>
            <a:spLocks noGrp="1"/>
          </p:cNvSpPr>
          <p:nvPr>
            <p:ph type="body"/>
          </p:nvPr>
        </p:nvSpPr>
        <p:spPr>
          <a:xfrm>
            <a:off x="8674200" y="7924680"/>
            <a:ext cx="6936480" cy="37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Управление науки занимается развитием научно-технического потенциала подразделений университета, отдельных сотрудников и университета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целом, способствует правовой охране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" name="PlaceHolder 10"/>
          <p:cNvSpPr>
            <a:spLocks noGrp="1"/>
          </p:cNvSpPr>
          <p:nvPr>
            <p:ph type="body"/>
          </p:nvPr>
        </p:nvSpPr>
        <p:spPr>
          <a:xfrm>
            <a:off x="16054920" y="7924680"/>
            <a:ext cx="6936480" cy="37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Информация о реализуемых образовательных программах,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том числе о реализуемых адаптированных образователь-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ных программах, с указанием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отношении каждой образо-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вательной программы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8" name="Рисунок 2" descr=""/>
          <p:cNvPicPr/>
          <p:nvPr/>
        </p:nvPicPr>
        <p:blipFill>
          <a:blip r:embed="rId4"/>
          <a:stretch/>
        </p:blipFill>
        <p:spPr>
          <a:xfrm>
            <a:off x="1390680" y="4776120"/>
            <a:ext cx="2217240" cy="183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Рисунок 3" descr=""/>
          <p:cNvPicPr/>
          <p:nvPr/>
        </p:nvPicPr>
        <p:blipFill>
          <a:blip r:embed="rId5"/>
          <a:stretch/>
        </p:blipFill>
        <p:spPr>
          <a:xfrm>
            <a:off x="8762400" y="4599720"/>
            <a:ext cx="1763640" cy="201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Рисунок 5" descr=""/>
          <p:cNvPicPr/>
          <p:nvPr/>
        </p:nvPicPr>
        <p:blipFill>
          <a:blip r:embed="rId6"/>
          <a:stretch/>
        </p:blipFill>
        <p:spPr>
          <a:xfrm>
            <a:off x="16116480" y="4401720"/>
            <a:ext cx="1924200" cy="2213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7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6"/>
          <p:cNvSpPr/>
          <p:nvPr/>
        </p:nvSpPr>
        <p:spPr>
          <a:xfrm>
            <a:off x="12442680" y="4707720"/>
            <a:ext cx="11939400" cy="571248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23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297800" y="4572720"/>
            <a:ext cx="10627200" cy="76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Lorem Ipsum is simply dummy text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Lorem Ipsum has been the industry's standard dummy text ever since the 1500s, when an unknown printer took a galley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of type and scrambled it to make a type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specimen book. It has survived not only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T Norms Pro Medium"/>
              </a:rPr>
              <a:t>five centuries, but also the leap into electronic typesetting, remaining essentially unchanged. It was popularised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4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5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C2FEFAF1-FA0E-4089-A1AD-B88F5CB87486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8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6"/>
          <p:cNvSpPr>
            <a:spLocks noGrp="1"/>
          </p:cNvSpPr>
          <p:nvPr>
            <p:ph type="body"/>
          </p:nvPr>
        </p:nvSpPr>
        <p:spPr>
          <a:xfrm>
            <a:off x="16035480" y="5373000"/>
            <a:ext cx="6936840" cy="117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7300" strike="noStrike" u="none">
                <a:solidFill>
                  <a:schemeClr val="lt2"/>
                </a:solidFill>
                <a:uFillTx/>
                <a:latin typeface="Tahoma"/>
              </a:rPr>
              <a:t>1-е место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31" name="PlaceHolder 7"/>
          <p:cNvSpPr>
            <a:spLocks noGrp="1"/>
          </p:cNvSpPr>
          <p:nvPr>
            <p:ph type="body"/>
          </p:nvPr>
        </p:nvSpPr>
        <p:spPr>
          <a:xfrm>
            <a:off x="16035840" y="6648480"/>
            <a:ext cx="6936480" cy="331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cреди вузов Проекта 5–100 </a:t>
            </a:r>
            <a:br>
              <a:rPr sz="4000"/>
            </a:b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по количеству публикаций </a:t>
            </a:r>
            <a:br>
              <a:rPr sz="4000"/>
            </a:b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в материаловедении </a:t>
            </a:r>
            <a:br>
              <a:rPr sz="4000"/>
            </a:br>
            <a:r>
              <a:rPr b="0" lang="ru-RU" sz="4000" strike="noStrike" u="none">
                <a:solidFill>
                  <a:schemeClr val="lt2"/>
                </a:solidFill>
                <a:uFillTx/>
                <a:latin typeface="TT Norms Pro"/>
              </a:rPr>
              <a:t>в журналах первого квартиля по SNIP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32" name="Рисунок 9" descr=""/>
          <p:cNvPicPr/>
          <p:nvPr/>
        </p:nvPicPr>
        <p:blipFill>
          <a:blip r:embed="rId4"/>
          <a:stretch/>
        </p:blipFill>
        <p:spPr>
          <a:xfrm>
            <a:off x="13193280" y="5430240"/>
            <a:ext cx="2166840" cy="18126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Прямоугольник 25"/>
          <p:cNvSpPr/>
          <p:nvPr/>
        </p:nvSpPr>
        <p:spPr>
          <a:xfrm>
            <a:off x="0" y="4707720"/>
            <a:ext cx="24382080" cy="736956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35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1297800" y="6553080"/>
            <a:ext cx="1062720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</a:t>
            </a:r>
            <a:br>
              <a:rPr sz="4000"/>
            </a:b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6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7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36C8FAAE-4802-4906-AFD5-F4413AE27080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0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1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PlaceHolder 6"/>
          <p:cNvSpPr>
            <a:spLocks noGrp="1"/>
          </p:cNvSpPr>
          <p:nvPr>
            <p:ph type="body"/>
          </p:nvPr>
        </p:nvSpPr>
        <p:spPr>
          <a:xfrm>
            <a:off x="1297800" y="5646600"/>
            <a:ext cx="1062720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body"/>
          </p:nvPr>
        </p:nvSpPr>
        <p:spPr>
          <a:xfrm>
            <a:off x="1297800" y="9692640"/>
            <a:ext cx="1062720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</a:t>
            </a:r>
            <a:br>
              <a:rPr sz="4000"/>
            </a:b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body"/>
          </p:nvPr>
        </p:nvSpPr>
        <p:spPr>
          <a:xfrm>
            <a:off x="1297800" y="8786160"/>
            <a:ext cx="1062720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5" name="PlaceHolder 9"/>
          <p:cNvSpPr>
            <a:spLocks noGrp="1"/>
          </p:cNvSpPr>
          <p:nvPr>
            <p:ph type="body"/>
          </p:nvPr>
        </p:nvSpPr>
        <p:spPr>
          <a:xfrm>
            <a:off x="12364200" y="6553080"/>
            <a:ext cx="10627200" cy="519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</a:t>
            </a:r>
            <a:br>
              <a:rPr sz="4000"/>
            </a:b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It has survived not only five centuries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46" name="PlaceHolder 10"/>
          <p:cNvSpPr>
            <a:spLocks noGrp="1"/>
          </p:cNvSpPr>
          <p:nvPr>
            <p:ph type="body"/>
          </p:nvPr>
        </p:nvSpPr>
        <p:spPr>
          <a:xfrm>
            <a:off x="12364200" y="5646600"/>
            <a:ext cx="1062720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25"/>
          <p:cNvSpPr/>
          <p:nvPr/>
        </p:nvSpPr>
        <p:spPr>
          <a:xfrm>
            <a:off x="0" y="3907440"/>
            <a:ext cx="11668320" cy="736956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4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2"/>
          <p:cNvSpPr>
            <a:spLocks noGrp="1"/>
          </p:cNvSpPr>
          <p:nvPr>
            <p:ph type="ftr" idx="8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9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B6F3F37C-DC8E-4D22-9C66-6D96FC2D6D15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3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4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1297800" y="5697000"/>
            <a:ext cx="9217440" cy="50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2"/>
                </a:solidFill>
                <a:uFillTx/>
                <a:latin typeface="TT Norms Pro Medium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body"/>
          </p:nvPr>
        </p:nvSpPr>
        <p:spPr>
          <a:xfrm>
            <a:off x="1297800" y="4790520"/>
            <a:ext cx="9217440" cy="103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2"/>
                </a:solidFill>
                <a:uFillTx/>
                <a:latin typeface="TT Norms Pro Medium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12297600" y="4370760"/>
            <a:ext cx="3749400" cy="209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62%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body"/>
          </p:nvPr>
        </p:nvSpPr>
        <p:spPr>
          <a:xfrm>
            <a:off x="12354840" y="6468120"/>
            <a:ext cx="376092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 dummy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text of the printing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60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298520" y="7281720"/>
            <a:ext cx="106264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What is Lorem Ipsum?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298520" y="8328960"/>
            <a:ext cx="14312520" cy="367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is simply dummy text of the printing and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typesetting industry. Lorem Ipsum has been the industry's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 when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an unknown printer took a galley of type and scrambled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it to make a type specimen book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10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11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A96931CD-80F4-4847-9881-5A112CCB4D1A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7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6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298520" y="4572000"/>
            <a:ext cx="10626480" cy="367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Стратегической целью НИТУ «МИСИС», согласно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участию в Проекте «5–100», является вхождение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закрепление в числе ведущих мировых университетов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основным международным рейтингам (THE, QS),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за счёт фундаментальных и прикладных исследований мирового уровня в материаловедении, нано- и био-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технологиях, металлургии и горном деле.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ftr" idx="12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sldNum" idx="13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97EA7171-DD39-462E-83FC-CD4F7CDC54F8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Прямоугольник 10"/>
          <p:cNvSpPr/>
          <p:nvPr/>
        </p:nvSpPr>
        <p:spPr>
          <a:xfrm>
            <a:off x="0" y="8533800"/>
            <a:ext cx="11939400" cy="339264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4943160" y="8910000"/>
            <a:ext cx="6981840" cy="117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7300" strike="noStrike" u="none">
                <a:solidFill>
                  <a:schemeClr val="lt2"/>
                </a:solidFill>
                <a:uFillTx/>
                <a:latin typeface="Tahoma"/>
              </a:rPr>
              <a:t>ТОП-10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body"/>
          </p:nvPr>
        </p:nvSpPr>
        <p:spPr>
          <a:xfrm>
            <a:off x="4956480" y="10189440"/>
            <a:ext cx="6968520" cy="13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pc="-71" strike="noStrike" u="none">
                <a:solidFill>
                  <a:schemeClr val="lt2"/>
                </a:solidFill>
                <a:uFillTx/>
                <a:latin typeface="TT Norms Pro"/>
              </a:rPr>
              <a:t>Среди лучших вузов России, </a:t>
            </a:r>
            <a:br>
              <a:rPr sz="4000"/>
            </a:br>
            <a:r>
              <a:rPr b="0" lang="ru-RU" sz="4000" spc="-71" strike="noStrike" u="none">
                <a:solidFill>
                  <a:schemeClr val="lt2"/>
                </a:solidFill>
                <a:uFillTx/>
                <a:latin typeface="TT Norms Pro"/>
              </a:rPr>
              <a:t>по версии «Интерфакс»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79" name="Рисунок 19" descr=""/>
          <p:cNvPicPr/>
          <p:nvPr/>
        </p:nvPicPr>
        <p:blipFill>
          <a:blip r:embed="rId4"/>
          <a:stretch/>
        </p:blipFill>
        <p:spPr>
          <a:xfrm>
            <a:off x="1728720" y="9141840"/>
            <a:ext cx="2285640" cy="1896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10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8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6035120" y="2029680"/>
            <a:ext cx="69562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Название данного</a:t>
            </a:r>
            <a:br>
              <a:rPr sz="4000"/>
            </a:b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блока информации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4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15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6BAF4DAE-79C8-4C87-B47B-09C30ABA1060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86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7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PlaceHolder 6"/>
          <p:cNvSpPr>
            <a:spLocks noGrp="1"/>
          </p:cNvSpPr>
          <p:nvPr>
            <p:ph type="body"/>
          </p:nvPr>
        </p:nvSpPr>
        <p:spPr>
          <a:xfrm>
            <a:off x="16056720" y="3664080"/>
            <a:ext cx="6936840" cy="26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Постоянный поиск наиболее эффективных действующих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веществ и их комбинаций,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а также оригинальные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инновационные препараты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PlaceHolder 1"/>
          <p:cNvSpPr>
            <a:spLocks noGrp="1"/>
          </p:cNvSpPr>
          <p:nvPr>
            <p:ph type="body"/>
          </p:nvPr>
        </p:nvSpPr>
        <p:spPr>
          <a:xfrm>
            <a:off x="16035120" y="2029680"/>
            <a:ext cx="69562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Название данного</a:t>
            </a:r>
            <a:br>
              <a:rPr sz="4000"/>
            </a:b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блока информации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ftr" idx="16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17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A8716978-66EB-449D-B9E4-26BE48AA91BC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9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16056720" y="3664080"/>
            <a:ext cx="6936840" cy="26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Постоянный поиск наиболее эффективных действующих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веществ и их комбинаций,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а также оригинальные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инновационные препараты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10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9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1298520" y="3512160"/>
            <a:ext cx="32590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Таблица 2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ftr" idx="18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19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34A6113D-BC75-42B2-BC4A-E7BE3509DF8B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5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6"/>
          <p:cNvSpPr>
            <a:spLocks noGrp="1"/>
          </p:cNvSpPr>
          <p:nvPr>
            <p:ph type="body"/>
          </p:nvPr>
        </p:nvSpPr>
        <p:spPr>
          <a:xfrm>
            <a:off x="5007960" y="3512160"/>
            <a:ext cx="693684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Сопроводительный текст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к данной таблице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Рисунок 4" descr=""/>
          <p:cNvPicPr/>
          <p:nvPr/>
        </p:nvPicPr>
        <p:blipFill>
          <a:blip r:embed="rId3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body"/>
          </p:nvPr>
        </p:nvSpPr>
        <p:spPr>
          <a:xfrm>
            <a:off x="1298520" y="10086840"/>
            <a:ext cx="6936840" cy="26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Ленинский проспект, д. 4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Москва, 119049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тел. +7 (495) 955-00-32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e-mail: kancela@misis.ru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misis.ru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title"/>
          </p:nvPr>
        </p:nvSpPr>
        <p:spPr>
          <a:xfrm>
            <a:off x="1298520" y="71845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Спасибо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 внимание!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2200" cy="209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dk2"/>
                </a:solidFill>
                <a:uFillTx/>
                <a:latin typeface="Tahoma"/>
              </a:rPr>
              <a:t>Заголовок</a:t>
            </a:r>
            <a:br>
              <a:rPr sz="8600"/>
            </a:br>
            <a:r>
              <a:rPr b="0" lang="ru-RU" sz="8600" strike="noStrike" u="none">
                <a:solidFill>
                  <a:schemeClr val="dk2"/>
                </a:solidFill>
                <a:uFillTx/>
                <a:latin typeface="Tahoma"/>
              </a:rPr>
              <a:t>презентации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dt" idx="20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5600" strike="noStrike" u="none">
                <a:solidFill>
                  <a:schemeClr val="dk1"/>
                </a:solidFill>
                <a:uFillTx/>
                <a:latin typeface="Tahoma"/>
              </a:rPr>
              <a:t>Для правки структуры щёлкните мышью</a:t>
            </a:r>
            <a:endParaRPr b="0" lang="ru-RU" sz="5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000" strike="noStrike" u="none">
                <a:solidFill>
                  <a:schemeClr val="dk1"/>
                </a:solidFill>
                <a:uFillTx/>
                <a:latin typeface="Tahoma"/>
              </a:rPr>
              <a:t>Второй уровень структуры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Третий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Tahoma"/>
              </a:rPr>
              <a:t>Четвёртый уровень структуры</a:t>
            </a: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Tahoma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  <p:sldLayoutId id="2147483672" r:id="rId3"/>
    <p:sldLayoutId id="2147483673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362640" y="5147640"/>
            <a:ext cx="12572640" cy="553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13700"/>
              </a:lnSpc>
              <a:buNone/>
              <a:tabLst>
                <a:tab algn="l" pos="0"/>
              </a:tabLst>
            </a:pPr>
            <a:r>
              <a:rPr b="0" lang="en-US" sz="15900" strike="noStrike" u="none">
                <a:solidFill>
                  <a:schemeClr val="lt2"/>
                </a:solidFill>
                <a:uFillTx/>
                <a:latin typeface="Tahoma"/>
              </a:rPr>
              <a:t>   </a:t>
            </a: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Заголовок</a:t>
            </a:r>
            <a:br>
              <a:rPr sz="15900"/>
            </a:br>
            <a:r>
              <a:rPr b="0" lang="en-US" sz="15900" strike="noStrike" u="none">
                <a:solidFill>
                  <a:schemeClr val="lt2"/>
                </a:solidFill>
                <a:uFillTx/>
                <a:latin typeface="Tahoma"/>
              </a:rPr>
              <a:t>       </a:t>
            </a: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раздела</a:t>
            </a:r>
            <a:br>
              <a:rPr sz="15900"/>
            </a:b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или главы</a:t>
            </a:r>
            <a:br>
              <a:rPr sz="15900"/>
            </a:br>
            <a:endParaRPr b="0" lang="ru-RU" sz="159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7620120" y="5147640"/>
            <a:ext cx="1257264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13700"/>
              </a:lnSpc>
              <a:buNone/>
            </a:pP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Заголовок</a:t>
            </a:r>
            <a:br>
              <a:rPr sz="15900"/>
            </a:br>
            <a:r>
              <a:rPr b="0" lang="en-US" sz="15900" strike="noStrike" u="none">
                <a:solidFill>
                  <a:schemeClr val="lt2"/>
                </a:solidFill>
                <a:uFillTx/>
                <a:latin typeface="Tahoma"/>
              </a:rPr>
              <a:t>     </a:t>
            </a:r>
            <a:r>
              <a:rPr b="0" lang="ru-RU" sz="15900" strike="noStrike" u="none">
                <a:solidFill>
                  <a:schemeClr val="lt2"/>
                </a:solidFill>
                <a:uFillTx/>
                <a:latin typeface="Tahoma"/>
              </a:rPr>
              <a:t>короткий</a:t>
            </a:r>
            <a:endParaRPr b="0" lang="ru-RU" sz="159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1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2"/>
                </a:solidFill>
                <a:uFillTx/>
                <a:latin typeface="Tahoma"/>
              </a:rPr>
              <a:t>Заголовок</a:t>
            </a:r>
            <a:br>
              <a:rPr sz="8600"/>
            </a:br>
            <a:r>
              <a:rPr b="0" lang="ru-RU" sz="8600" strike="noStrike" u="none">
                <a:solidFill>
                  <a:schemeClr val="lt2"/>
                </a:solidFill>
                <a:uFillTx/>
                <a:latin typeface="Tahoma"/>
              </a:rPr>
              <a:t>раздела</a:t>
            </a:r>
            <a:br>
              <a:rPr sz="8600"/>
            </a:br>
            <a:r>
              <a:rPr b="0" lang="ru-RU" sz="8600" strike="noStrike" u="none">
                <a:solidFill>
                  <a:schemeClr val="lt2"/>
                </a:solidFill>
                <a:uFillTx/>
                <a:latin typeface="Tahoma"/>
              </a:rPr>
              <a:t>или главы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dt" idx="21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12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87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в одну</a:t>
            </a:r>
            <a:br>
              <a:rPr sz="7300"/>
            </a:b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или несколько строк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23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1298520" y="4379400"/>
            <a:ext cx="106264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What is Lorem Ipsum?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1298520" y="5787000"/>
            <a:ext cx="1062648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is simply dummy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of the printing and typesetting industry</a:t>
            </a:r>
            <a:br>
              <a:rPr sz="4000"/>
            </a:b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has been the industry's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 when an unknown printer took a galley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of type and scrambled it to make a type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specimen book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body"/>
          </p:nvPr>
        </p:nvSpPr>
        <p:spPr>
          <a:xfrm>
            <a:off x="18060840" y="9151920"/>
            <a:ext cx="493056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accent1"/>
                </a:solidFill>
                <a:uFillTx/>
                <a:latin typeface="Tahoma"/>
              </a:rPr>
              <a:t>Lorem Ipsum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18060840" y="9745560"/>
            <a:ext cx="493056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 dummy text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 is simply 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body"/>
          </p:nvPr>
        </p:nvSpPr>
        <p:spPr>
          <a:xfrm>
            <a:off x="15878880" y="8839080"/>
            <a:ext cx="2120040" cy="226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72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29" name="PlaceHolder 7"/>
          <p:cNvSpPr>
            <a:spLocks noGrp="1"/>
          </p:cNvSpPr>
          <p:nvPr>
            <p:ph type="body"/>
          </p:nvPr>
        </p:nvSpPr>
        <p:spPr>
          <a:xfrm>
            <a:off x="16050240" y="4474800"/>
            <a:ext cx="7361640" cy="247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«Хотел бы отметить особую роль НИТУ «МИСиС»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в подготовке специалистов для предприятий ОМК.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Блестящее качество образования и глубина знаний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наших сотрудников, уникальные учебные программы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университета, в том числе разработанные специально</a:t>
            </a:r>
            <a:br>
              <a:rPr sz="2200"/>
            </a:b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для нас, — один из главных факторов успеха ОМК»</a:t>
            </a:r>
            <a:endParaRPr b="0" lang="ru-RU" sz="2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0" name="PlaceHolder 8"/>
          <p:cNvSpPr>
            <a:spLocks noGrp="1"/>
          </p:cNvSpPr>
          <p:nvPr>
            <p:ph type="body"/>
          </p:nvPr>
        </p:nvSpPr>
        <p:spPr>
          <a:xfrm>
            <a:off x="16050240" y="7110000"/>
            <a:ext cx="7361640" cy="308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Анатолий Седых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1" name="PlaceHolder 9"/>
          <p:cNvSpPr>
            <a:spLocks noGrp="1"/>
          </p:cNvSpPr>
          <p:nvPr>
            <p:ph type="body"/>
          </p:nvPr>
        </p:nvSpPr>
        <p:spPr>
          <a:xfrm>
            <a:off x="16050240" y="7382160"/>
            <a:ext cx="73616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Председатель правления АО «ОМК».</a:t>
            </a:r>
            <a:br>
              <a:rPr sz="1700"/>
            </a:b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Выпускник МИСИС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2" name="PlaceHolder 10"/>
          <p:cNvSpPr>
            <a:spLocks noGrp="1"/>
          </p:cNvSpPr>
          <p:nvPr>
            <p:ph type="ftr" idx="22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3" name="PlaceHolder 11"/>
          <p:cNvSpPr>
            <a:spLocks noGrp="1"/>
          </p:cNvSpPr>
          <p:nvPr>
            <p:ph type="sldNum" idx="23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3031B5AC-26FB-476E-9298-CE4A362DE21D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4" name="PlaceHolder 12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35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6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73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38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1298520" y="3760200"/>
            <a:ext cx="8461440" cy="29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Lorem Ipsum is simply dummy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text of the printing and typesetting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industry. Lorem Ipsum has been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the industry's standard dummy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12363480" y="7655400"/>
            <a:ext cx="10681920" cy="467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has been the industry's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when an unknown printer took a galley 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has been the industry's 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standard dummy text ever since the 1500s,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when an unknown printer took a galley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body"/>
          </p:nvPr>
        </p:nvSpPr>
        <p:spPr>
          <a:xfrm>
            <a:off x="12354840" y="5364000"/>
            <a:ext cx="325620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dummy text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12297600" y="3326400"/>
            <a:ext cx="331344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23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3" name="PlaceHolder 6"/>
          <p:cNvSpPr>
            <a:spLocks noGrp="1"/>
          </p:cNvSpPr>
          <p:nvPr>
            <p:ph type="body"/>
          </p:nvPr>
        </p:nvSpPr>
        <p:spPr>
          <a:xfrm>
            <a:off x="1298520" y="7673040"/>
            <a:ext cx="7129440" cy="247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«НИТУ «МИСИС» полноправно вошёл в «обойму» тех организаций, которые сотрудничают с CERN. Теперь НИТУ «МИСИС» — не только университет, блистающий в области новых материалов и технологий, но и организация, имеющая отношение к участию России  в самых ярких проектах в области</a:t>
            </a:r>
            <a:r>
              <a:rPr b="0" lang="en-US" sz="2200" strike="noStrike" u="none">
                <a:solidFill>
                  <a:schemeClr val="dk2"/>
                </a:solidFill>
                <a:uFillTx/>
                <a:latin typeface="TT Norms Pro"/>
              </a:rPr>
              <a:t> </a:t>
            </a: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физики частиц»</a:t>
            </a:r>
            <a:endParaRPr b="0" lang="ru-RU" sz="2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4" name="PlaceHolder 7"/>
          <p:cNvSpPr>
            <a:spLocks noGrp="1"/>
          </p:cNvSpPr>
          <p:nvPr>
            <p:ph type="body"/>
          </p:nvPr>
        </p:nvSpPr>
        <p:spPr>
          <a:xfrm>
            <a:off x="1298520" y="10548360"/>
            <a:ext cx="7129440" cy="27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Григорий Трубников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5" name="PlaceHolder 8"/>
          <p:cNvSpPr>
            <a:spLocks noGrp="1"/>
          </p:cNvSpPr>
          <p:nvPr>
            <p:ph type="body"/>
          </p:nvPr>
        </p:nvSpPr>
        <p:spPr>
          <a:xfrm>
            <a:off x="1298520" y="10820520"/>
            <a:ext cx="712944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заместитель министра науки </a:t>
            </a:r>
            <a:br>
              <a:rPr sz="1700"/>
            </a:b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и высшего образования РФ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6" name="PlaceHolder 9"/>
          <p:cNvSpPr>
            <a:spLocks noGrp="1"/>
          </p:cNvSpPr>
          <p:nvPr>
            <p:ph type="ftr" idx="24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7" name="PlaceHolder 10"/>
          <p:cNvSpPr>
            <a:spLocks noGrp="1"/>
          </p:cNvSpPr>
          <p:nvPr>
            <p:ph type="sldNum" idx="25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76E0FA65-1F92-46A2-B410-5CEF2BF0E5DC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8" name="PlaceHolder 11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49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50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PlaceHolder 12"/>
          <p:cNvSpPr>
            <a:spLocks noGrp="1"/>
          </p:cNvSpPr>
          <p:nvPr>
            <p:ph type="body"/>
          </p:nvPr>
        </p:nvSpPr>
        <p:spPr>
          <a:xfrm>
            <a:off x="16047360" y="5364000"/>
            <a:ext cx="325620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dummy text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2" name="PlaceHolder 13"/>
          <p:cNvSpPr>
            <a:spLocks noGrp="1"/>
          </p:cNvSpPr>
          <p:nvPr>
            <p:ph type="body"/>
          </p:nvPr>
        </p:nvSpPr>
        <p:spPr>
          <a:xfrm>
            <a:off x="15990120" y="3326400"/>
            <a:ext cx="331344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115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3" name="PlaceHolder 14"/>
          <p:cNvSpPr>
            <a:spLocks noGrp="1"/>
          </p:cNvSpPr>
          <p:nvPr>
            <p:ph type="body"/>
          </p:nvPr>
        </p:nvSpPr>
        <p:spPr>
          <a:xfrm>
            <a:off x="19722600" y="5364000"/>
            <a:ext cx="325620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dummy text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4" name="PlaceHolder 15"/>
          <p:cNvSpPr>
            <a:spLocks noGrp="1"/>
          </p:cNvSpPr>
          <p:nvPr>
            <p:ph type="body"/>
          </p:nvPr>
        </p:nvSpPr>
        <p:spPr>
          <a:xfrm>
            <a:off x="19665000" y="3326400"/>
            <a:ext cx="331344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8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PlaceHolder 1"/>
          <p:cNvSpPr>
            <a:spLocks noGrp="1"/>
          </p:cNvSpPr>
          <p:nvPr>
            <p:ph type="body"/>
          </p:nvPr>
        </p:nvSpPr>
        <p:spPr>
          <a:xfrm>
            <a:off x="1298520" y="2030760"/>
            <a:ext cx="6956280" cy="29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Lorem Ipsum is simply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dummy text of the printing and typesetting industry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Lorem Ipsum has been</a:t>
            </a:r>
            <a:br>
              <a:rPr sz="4000"/>
            </a:br>
            <a:r>
              <a:rPr b="0" lang="en-US" sz="4000" strike="noStrike" u="none">
                <a:solidFill>
                  <a:schemeClr val="accent1"/>
                </a:solidFill>
                <a:uFillTx/>
                <a:latin typeface="Tahoma"/>
              </a:rPr>
              <a:t>the industry's standard dummy text ever since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12347640" y="8534160"/>
            <a:ext cx="10738080" cy="95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Lorem Ipsum Lorem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12354840" y="3744720"/>
            <a:ext cx="3760920" cy="141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Lorem Ipsum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is simply dummy</a:t>
            </a:r>
            <a:br>
              <a:rPr sz="3000"/>
            </a:br>
            <a:r>
              <a:rPr b="0" lang="en-US" sz="3000" strike="noStrike" u="none">
                <a:solidFill>
                  <a:schemeClr val="dk2"/>
                </a:solidFill>
                <a:uFillTx/>
                <a:latin typeface="Tahoma"/>
              </a:rPr>
              <a:t>text of the printing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12297600" y="1707120"/>
            <a:ext cx="3749400" cy="20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0" strike="noStrike" u="none">
                <a:solidFill>
                  <a:schemeClr val="accent1"/>
                </a:solidFill>
                <a:uFillTx/>
                <a:latin typeface="Tahoma"/>
              </a:rPr>
              <a:t>62%</a:t>
            </a:r>
            <a:endParaRPr b="0" lang="ru-RU" sz="1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0" name="PlaceHolder 5"/>
          <p:cNvSpPr>
            <a:spLocks noGrp="1"/>
          </p:cNvSpPr>
          <p:nvPr>
            <p:ph type="body"/>
          </p:nvPr>
        </p:nvSpPr>
        <p:spPr>
          <a:xfrm>
            <a:off x="1298520" y="7096320"/>
            <a:ext cx="6135480" cy="287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«НИТУ «МИСИС» полноправно вошёл в «обойму» тех организаций, которые сотрудничают с CERN. Теперь НИТУ «МИСИС» — не только университет, блистающий в области новых материалов и технологий, но и организация, имеющая отношение к участию  России в самых ярких проектах в области</a:t>
            </a:r>
            <a:r>
              <a:rPr b="0" lang="en-US" sz="2200" strike="noStrike" u="none">
                <a:solidFill>
                  <a:schemeClr val="dk2"/>
                </a:solidFill>
                <a:uFillTx/>
                <a:latin typeface="TT Norms Pro"/>
              </a:rPr>
              <a:t> </a:t>
            </a:r>
            <a:r>
              <a:rPr b="0" lang="ru-RU" sz="2200" strike="noStrike" u="none">
                <a:solidFill>
                  <a:schemeClr val="dk2"/>
                </a:solidFill>
                <a:uFillTx/>
                <a:latin typeface="TT Norms Pro"/>
              </a:rPr>
              <a:t>физики частиц»</a:t>
            </a:r>
            <a:endParaRPr b="0" lang="ru-RU" sz="2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1" name="PlaceHolder 6"/>
          <p:cNvSpPr>
            <a:spLocks noGrp="1"/>
          </p:cNvSpPr>
          <p:nvPr>
            <p:ph type="body"/>
          </p:nvPr>
        </p:nvSpPr>
        <p:spPr>
          <a:xfrm>
            <a:off x="1298520" y="10310040"/>
            <a:ext cx="6956280" cy="27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Григорий Трубников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2" name="PlaceHolder 7"/>
          <p:cNvSpPr>
            <a:spLocks noGrp="1"/>
          </p:cNvSpPr>
          <p:nvPr>
            <p:ph type="body"/>
          </p:nvPr>
        </p:nvSpPr>
        <p:spPr>
          <a:xfrm>
            <a:off x="1298520" y="10581840"/>
            <a:ext cx="6956280" cy="82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заместитель министра науки </a:t>
            </a:r>
            <a:br>
              <a:rPr sz="1700"/>
            </a:br>
            <a:r>
              <a:rPr b="0" lang="ru-RU" sz="1700" strike="noStrike" u="none">
                <a:solidFill>
                  <a:schemeClr val="dk2"/>
                </a:solidFill>
                <a:uFillTx/>
                <a:latin typeface="TT Norms Pro"/>
              </a:rPr>
              <a:t>и высшего образования РФ</a:t>
            </a:r>
            <a:endParaRPr b="0" lang="ru-RU" sz="17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3" name="PlaceHolder 8"/>
          <p:cNvSpPr>
            <a:spLocks noGrp="1"/>
          </p:cNvSpPr>
          <p:nvPr>
            <p:ph type="ftr" idx="26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4" name="PlaceHolder 9"/>
          <p:cNvSpPr>
            <a:spLocks noGrp="1"/>
          </p:cNvSpPr>
          <p:nvPr>
            <p:ph type="sldNum" idx="27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D9EC8D0E-B381-4ED2-80E1-C1D30FAB7DCC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PlaceHolder 10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6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7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11"/>
          <p:cNvSpPr>
            <a:spLocks noGrp="1"/>
          </p:cNvSpPr>
          <p:nvPr>
            <p:ph type="body"/>
          </p:nvPr>
        </p:nvSpPr>
        <p:spPr>
          <a:xfrm>
            <a:off x="12363480" y="9448920"/>
            <a:ext cx="10738080" cy="290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Lorem Ipsum is simply dummy text of the</a:t>
            </a:r>
            <a:br>
              <a:rPr sz="4000"/>
            </a:br>
            <a:r>
              <a:rPr b="0" lang="en-US" sz="4000" strike="noStrike" u="none">
                <a:solidFill>
                  <a:schemeClr val="dk2"/>
                </a:solidFill>
                <a:uFillTx/>
                <a:latin typeface="Tahoma"/>
              </a:rPr>
              <a:t>printing and typesetting industry Lorem Ipsum has been the industry's standard dummy text </a:t>
            </a:r>
            <a:endParaRPr b="0" lang="ru-RU" sz="4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1298520" y="2115720"/>
            <a:ext cx="10626480" cy="110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6701"/>
              </a:lnSpc>
              <a:buNone/>
            </a:pPr>
            <a:r>
              <a:rPr b="0" lang="ru-RU" sz="7300" strike="noStrike" u="none">
                <a:solidFill>
                  <a:schemeClr val="accent1"/>
                </a:solidFill>
                <a:uFillTx/>
                <a:latin typeface="Tahoma"/>
              </a:rPr>
              <a:t>Заголовок раздела</a:t>
            </a:r>
            <a:endParaRPr b="0" lang="ru-RU" sz="73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pic>
        <p:nvPicPr>
          <p:cNvPr id="170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1298520" y="3655440"/>
            <a:ext cx="10626480" cy="10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200" strike="noStrike" u="none">
                <a:solidFill>
                  <a:schemeClr val="accent1"/>
                </a:solidFill>
                <a:uFillTx/>
                <a:latin typeface="Tahoma"/>
              </a:rPr>
              <a:t>What is Lorem Ipsum?</a:t>
            </a:r>
            <a:endParaRPr b="0" lang="ru-RU" sz="5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1295280" y="5123520"/>
            <a:ext cx="693684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23960" indent="-723960" defTabSz="1828800">
              <a:lnSpc>
                <a:spcPct val="100000"/>
              </a:lnSpc>
              <a:buSzPct val="100054"/>
              <a:buBlip>
                <a:blip r:embed="rId3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Организация и управление научно-образовательным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процессом по программам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подготовки научно-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педагогических кадров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</a:pP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marL="723960" indent="-723960" defTabSz="1828800">
              <a:lnSpc>
                <a:spcPct val="100000"/>
              </a:lnSpc>
              <a:buSzPct val="100054"/>
              <a:buBlip>
                <a:blip r:embed="rId4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Разработка нормативной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методической документации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осуществлению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научно-образовательной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деятельности 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 type="ftr" idx="28"/>
          </p:nvPr>
        </p:nvSpPr>
        <p:spPr>
          <a:xfrm>
            <a:off x="1302480" y="12664440"/>
            <a:ext cx="695196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4" name="PlaceHolder 5"/>
          <p:cNvSpPr>
            <a:spLocks noGrp="1"/>
          </p:cNvSpPr>
          <p:nvPr>
            <p:ph type="sldNum" idx="29"/>
          </p:nvPr>
        </p:nvSpPr>
        <p:spPr>
          <a:xfrm>
            <a:off x="19811880" y="12630960"/>
            <a:ext cx="328932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</a:pPr>
            <a:fld id="{37D7798D-90EC-4ECB-B663-F0B05E857C5F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5" name="PlaceHolder 6"/>
          <p:cNvSpPr>
            <a:spLocks noGrp="1"/>
          </p:cNvSpPr>
          <p:nvPr>
            <p:ph type="body"/>
          </p:nvPr>
        </p:nvSpPr>
        <p:spPr>
          <a:xfrm>
            <a:off x="8674200" y="12856680"/>
            <a:ext cx="6936840" cy="35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/>
                </a:solidFill>
                <a:uFillTx/>
                <a:latin typeface="Tahoma"/>
              </a:rPr>
              <a:t>Докладчик (при необходимости)</a:t>
            </a:r>
            <a:endParaRPr b="0" lang="ru-RU" sz="15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6" name="TextBox 17"/>
          <p:cNvSpPr/>
          <p:nvPr/>
        </p:nvSpPr>
        <p:spPr>
          <a:xfrm>
            <a:off x="19811880" y="655560"/>
            <a:ext cx="3273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77" name="Рисунок 18" descr=""/>
          <p:cNvPicPr/>
          <p:nvPr/>
        </p:nvPicPr>
        <p:blipFill>
          <a:blip r:embed="rId5"/>
          <a:stretch/>
        </p:blipFill>
        <p:spPr>
          <a:xfrm>
            <a:off x="1395720" y="399240"/>
            <a:ext cx="2393640" cy="96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PlaceHolder 7"/>
          <p:cNvSpPr>
            <a:spLocks noGrp="1"/>
          </p:cNvSpPr>
          <p:nvPr>
            <p:ph type="body"/>
          </p:nvPr>
        </p:nvSpPr>
        <p:spPr>
          <a:xfrm>
            <a:off x="8674200" y="5123520"/>
            <a:ext cx="693684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23960" indent="-723960" defTabSz="1828800">
              <a:lnSpc>
                <a:spcPct val="100000"/>
              </a:lnSpc>
              <a:buSzPct val="100054"/>
              <a:buBlip>
                <a:blip r:embed="rId6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Организация и управление научно-образовательным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процессом по программам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подготовки научно-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педагогических кадров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</a:pP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marL="723960" indent="-723960" defTabSz="1828800">
              <a:lnSpc>
                <a:spcPct val="100000"/>
              </a:lnSpc>
              <a:buSzPct val="100054"/>
              <a:buBlip>
                <a:blip r:embed="rId7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Разработка нормативной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методической документации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осуществлению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научно-образовательной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деятельности 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79" name="PlaceHolder 8"/>
          <p:cNvSpPr>
            <a:spLocks noGrp="1"/>
          </p:cNvSpPr>
          <p:nvPr>
            <p:ph type="body"/>
          </p:nvPr>
        </p:nvSpPr>
        <p:spPr>
          <a:xfrm>
            <a:off x="16052760" y="5123520"/>
            <a:ext cx="6938640" cy="65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23960" indent="-723960" defTabSz="1828800">
              <a:lnSpc>
                <a:spcPct val="100000"/>
              </a:lnSpc>
              <a:buSzPct val="100054"/>
              <a:buBlip>
                <a:blip r:embed="rId8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Организация и управление научно-образовательным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процессом по программам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подготовки научно-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педагогических кадров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indent="0" defTabSz="1828800">
              <a:lnSpc>
                <a:spcPct val="100000"/>
              </a:lnSpc>
              <a:buNone/>
            </a:pP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  <a:p>
            <a:pPr marL="723960" indent="-723960" defTabSz="1828800">
              <a:lnSpc>
                <a:spcPct val="100000"/>
              </a:lnSpc>
              <a:buSzPct val="100054"/>
              <a:buBlip>
                <a:blip r:embed="rId9"/>
              </a:buBlip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Разработка нормативной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и методической документации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по осуществлению 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научно-образовательной</a:t>
            </a:r>
            <a:br>
              <a:rPr sz="3000"/>
            </a:br>
            <a:r>
              <a:rPr b="0" lang="ru-RU" sz="3000" strike="noStrike" u="none">
                <a:solidFill>
                  <a:schemeClr val="dk2"/>
                </a:solidFill>
                <a:uFillTx/>
                <a:latin typeface="TT Norms Pro"/>
              </a:rPr>
              <a:t>деятельности в аспирантуре</a:t>
            </a:r>
            <a:endParaRPr b="0" lang="ru-RU" sz="30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microsoft.com/office/2007/relationships/hdphoto" Target="../media/hdphoto1.wdp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Прямоугольник 3"/>
          <p:cNvSpPr/>
          <p:nvPr/>
        </p:nvSpPr>
        <p:spPr>
          <a:xfrm>
            <a:off x="1008360" y="891000"/>
            <a:ext cx="4835880" cy="219708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355040" y="3312360"/>
            <a:ext cx="16747920" cy="14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847800">
              <a:lnSpc>
                <a:spcPts val="2999"/>
              </a:lnSpc>
              <a:buNone/>
            </a:pPr>
            <a:r>
              <a:rPr b="1" lang="ru-RU" sz="4400" strike="noStrike" u="none">
                <a:solidFill>
                  <a:schemeClr val="accent1">
                    <a:lumMod val="45000"/>
                    <a:lumOff val="55000"/>
                  </a:schemeClr>
                </a:solidFill>
                <a:uFillTx/>
                <a:latin typeface="Tahoma"/>
              </a:rPr>
              <a:t>Индивидуальный проект</a:t>
            </a:r>
            <a:endParaRPr b="0" lang="ru-RU" sz="44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subTitle"/>
          </p:nvPr>
        </p:nvSpPr>
        <p:spPr>
          <a:xfrm>
            <a:off x="540000" y="9000000"/>
            <a:ext cx="9952200" cy="479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Автор работы: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Булычев Алексей Андреевич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Наставник: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учитель информатики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ГБОУ Школа №1195 </a:t>
            </a:r>
            <a:br>
              <a:rPr sz="2800"/>
            </a:b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имени Героя Советского Союза П.И. Меренкова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Виктор Григорьевич Харитинов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83" name="Рисунок 5" descr=""/>
          <p:cNvPicPr/>
          <p:nvPr/>
        </p:nvPicPr>
        <p:blipFill>
          <a:blip r:embed="rId1"/>
          <a:srcRect l="0" t="0" r="0" b="13536"/>
          <a:stretch/>
        </p:blipFill>
        <p:spPr>
          <a:xfrm>
            <a:off x="10782360" y="1330920"/>
            <a:ext cx="5882400" cy="141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Заголовок 3"/>
          <p:cNvSpPr/>
          <p:nvPr/>
        </p:nvSpPr>
        <p:spPr>
          <a:xfrm>
            <a:off x="537480" y="5450760"/>
            <a:ext cx="11692080" cy="11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ct val="100000"/>
              </a:lnSpc>
            </a:pPr>
            <a:r>
              <a:rPr b="1" lang="ru-RU" sz="54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Тема проекта: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1828800">
              <a:lnSpc>
                <a:spcPct val="100000"/>
              </a:lnSpc>
            </a:pPr>
            <a:r>
              <a:rPr b="1" lang="ru-RU" sz="54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Велосборщик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85" name="Рисунок 6" descr=""/>
          <p:cNvPicPr/>
          <p:nvPr/>
        </p:nvPicPr>
        <p:blipFill>
          <a:blip r:embed="rId2"/>
          <a:srcRect l="31767" t="41786" r="30561" b="42541"/>
          <a:stretch/>
        </p:blipFill>
        <p:spPr>
          <a:xfrm>
            <a:off x="6075720" y="1463040"/>
            <a:ext cx="4835880" cy="142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Рисунок 7" descr=""/>
          <p:cNvPicPr/>
          <p:nvPr/>
        </p:nvPicPr>
        <p:blipFill>
          <a:blip r:embed="rId3"/>
          <a:stretch/>
        </p:blipFill>
        <p:spPr>
          <a:xfrm>
            <a:off x="1355040" y="-243720"/>
            <a:ext cx="4604400" cy="460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1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Проблема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subTitle"/>
          </p:nvPr>
        </p:nvSpPr>
        <p:spPr>
          <a:xfrm>
            <a:off x="720000" y="3960000"/>
            <a:ext cx="144000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68240" indent="-228600" algn="just">
              <a:lnSpc>
                <a:spcPct val="150000"/>
              </a:lnSpc>
              <a:buNone/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Проблема моего проекта — отсутствие универсальных (и каких-либо русскоязычных) ресурсов для создания велосипедов любого уровня, ценника и класса, эта проблема касается таких слоёв населения, как велолюбители, начинающие велосипедисты и специалисты-конструкторы.</a:t>
            </a:r>
            <a:endParaRPr b="0" lang="ru-RU" sz="40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dt" idx="30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90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191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2" name="Рисунок 12" descr=""/>
            <p:cNvPicPr/>
            <p:nvPr/>
          </p:nvPicPr>
          <p:blipFill>
            <a:blip r:embed="rId3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3" name="Рисунок 13" descr=""/>
            <p:cNvPicPr/>
            <p:nvPr/>
          </p:nvPicPr>
          <p:blipFill>
            <a:blip r:embed="rId4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94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2/13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1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Цель проекта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ubTitle"/>
          </p:nvPr>
        </p:nvSpPr>
        <p:spPr>
          <a:xfrm>
            <a:off x="1207800" y="3847320"/>
            <a:ext cx="1193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68240" indent="-228600" algn="just">
              <a:lnSpc>
                <a:spcPct val="150000"/>
              </a:lnSpc>
              <a:buNone/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Создать ресурс (веб-приложение) на котором пользователи смогут легко создавать собственные велосипедные сборки, изменять, брать готовые и после скачивать их,  а также получать информацию о различных моделях и компонентах.</a:t>
            </a:r>
            <a:endParaRPr b="0" lang="ru-RU" sz="40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31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98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199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0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1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2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3/13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34128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7200" strike="noStrike" u="none">
                <a:solidFill>
                  <a:schemeClr val="lt1"/>
                </a:solidFill>
                <a:uFillTx/>
                <a:latin typeface="Tahoma"/>
              </a:rPr>
              <a:t>Планируемые сроки и этапы реализации до прототипа</a:t>
            </a:r>
            <a:endParaRPr b="0" lang="ru-RU" sz="72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Планируемый срок предоставления рабочего прототипа: середина февраля 2025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dt" idx="32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206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07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8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9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10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4/13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subTitle"/>
          </p:nvPr>
        </p:nvSpPr>
        <p:spPr>
          <a:xfrm>
            <a:off x="1080000" y="546732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just">
              <a:lnSpc>
                <a:spcPct val="15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1. Выбор технологий: Для разработки веб-приложения было решено использовать Python и библиотеку Flask в качестве основного фреймворка, что обеспечивает простоту и гибкость для создания серверной части.</a:t>
            </a:r>
            <a:endParaRPr b="0" lang="ru-RU" sz="32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dt" idx="33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14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15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16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7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8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19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5/13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4"/>
          <a:stretch/>
        </p:blipFill>
        <p:spPr>
          <a:xfrm>
            <a:off x="7020000" y="9000000"/>
            <a:ext cx="4465800" cy="393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" descr=""/>
          <p:cNvPicPr/>
          <p:nvPr/>
        </p:nvPicPr>
        <p:blipFill>
          <a:blip r:embed="rId5"/>
          <a:stretch/>
        </p:blipFill>
        <p:spPr>
          <a:xfrm>
            <a:off x="12240000" y="5205960"/>
            <a:ext cx="11995200" cy="73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just">
              <a:lnSpc>
                <a:spcPct val="15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Tahoma"/>
                <a:ea typeface="Times New Roman"/>
              </a:rPr>
              <a:t>2. Создание шаблонов: Весь контент сайта был структурирован с помощью HTML, что дало возможность организовать страницы. Для оформления использовались классы Bootstrap, что обеспечило современный и отзывчивый дизайн.</a:t>
            </a:r>
            <a:endParaRPr b="0" lang="ru-RU" sz="32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dt" idx="34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5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26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27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28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29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0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6/13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31" name="" descr=""/>
          <p:cNvPicPr/>
          <p:nvPr/>
        </p:nvPicPr>
        <p:blipFill>
          <a:blip r:embed="rId4"/>
          <a:stretch/>
        </p:blipFill>
        <p:spPr>
          <a:xfrm>
            <a:off x="19649880" y="5220000"/>
            <a:ext cx="4517280" cy="36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2" name="" descr=""/>
          <p:cNvPicPr/>
          <p:nvPr/>
        </p:nvPicPr>
        <p:blipFill>
          <a:blip r:embed="rId5"/>
          <a:stretch/>
        </p:blipFill>
        <p:spPr>
          <a:xfrm>
            <a:off x="11700000" y="9097560"/>
            <a:ext cx="12185640" cy="330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subTitle"/>
          </p:nvPr>
        </p:nvSpPr>
        <p:spPr>
          <a:xfrm>
            <a:off x="900000" y="5467320"/>
            <a:ext cx="106200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just">
              <a:lnSpc>
                <a:spcPct val="15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Tahoma"/>
                <a:ea typeface="Times New Roman"/>
              </a:rPr>
              <a:t>4. Работа с базой данных: Для хранения и управления данными использовалась ORM-библиотека SQLAlchemy, которая обеспечила удобный способ работы с базой данных. В качестве базы данных была выбрана SQLite, что дало возможность легко интегрировать и управлять данными без необходимости создания отдельного сервера.</a:t>
            </a:r>
            <a:endParaRPr b="0" lang="ru-RU" sz="3200" strike="noStrike" u="none">
              <a:solidFill>
                <a:srgbClr val="000000"/>
              </a:solidFill>
              <a:uFillTx/>
              <a:latin typeface="Times New Roman"/>
              <a:ea typeface="Times New Roman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dt" idx="35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6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37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38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39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40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1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7/13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42" name="" descr=""/>
          <p:cNvPicPr/>
          <p:nvPr/>
        </p:nvPicPr>
        <p:blipFill>
          <a:blip r:embed="rId4"/>
          <a:stretch/>
        </p:blipFill>
        <p:spPr>
          <a:xfrm>
            <a:off x="13545000" y="5114520"/>
            <a:ext cx="10655640" cy="676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" descr=""/>
          <p:cNvPicPr/>
          <p:nvPr/>
        </p:nvPicPr>
        <p:blipFill>
          <a:blip r:embed="rId5"/>
          <a:stretch/>
        </p:blipFill>
        <p:spPr>
          <a:xfrm>
            <a:off x="5400000" y="11160000"/>
            <a:ext cx="5934240" cy="233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Прямоугольник 14"/>
          <p:cNvSpPr/>
          <p:nvPr/>
        </p:nvSpPr>
        <p:spPr>
          <a:xfrm>
            <a:off x="0" y="0"/>
            <a:ext cx="12953520" cy="137156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0835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Продукт проекта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ubTitle"/>
          </p:nvPr>
        </p:nvSpPr>
        <p:spPr>
          <a:xfrm>
            <a:off x="1207800" y="348732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>
              <a:lnSpc>
                <a:spcPct val="150000"/>
              </a:lnSpc>
              <a:buNone/>
            </a:pP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Сайт Велосборщик — веб-приложение, написанное на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Python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при помощи библиотеки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flask.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Все шаблоны страниц сайта делались на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YS Text;apple-system"/>
                <a:ea typeface="Times New Roman"/>
              </a:rPr>
              <a:t>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YS Text;apple-system"/>
                <a:ea typeface="Times New Roman"/>
              </a:rPr>
              <a:t>HTML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–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языке гипертекстовой разметки для структурирования и оформления с использованием классов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Bootstrap,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для динамичности сайта использовался язык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JavaScript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. Работа с БД выполнялась через библиотеку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 ORM sqlalchemy,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сама база данных —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SqlLite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.</a:t>
            </a:r>
            <a:endParaRPr b="0" lang="ru-RU" sz="3200" strike="noStrike" u="none">
              <a:solidFill>
                <a:srgbClr val="ffffff"/>
              </a:solidFill>
              <a:uFillTx/>
              <a:latin typeface="Arial"/>
              <a:ea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dt" idx="36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8" name="Google Shape;763;p71"/>
          <p:cNvSpPr/>
          <p:nvPr/>
        </p:nvSpPr>
        <p:spPr>
          <a:xfrm>
            <a:off x="13941720" y="4074840"/>
            <a:ext cx="9303480" cy="5884560"/>
          </a:xfrm>
          <a:prstGeom prst="roundRect">
            <a:avLst>
              <a:gd name="adj" fmla="val 2154"/>
            </a:avLst>
          </a:prstGeom>
          <a:noFill/>
          <a:ln w="19050">
            <a:solidFill>
              <a:srgbClr val="0541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49" name="Подзаголовок 2"/>
          <p:cNvSpPr/>
          <p:nvPr/>
        </p:nvSpPr>
        <p:spPr>
          <a:xfrm>
            <a:off x="14252400" y="4386600"/>
            <a:ext cx="6107760" cy="90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Место для изображения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50" name="Рисунок 11" descr=""/>
          <p:cNvPicPr/>
          <p:nvPr/>
        </p:nvPicPr>
        <p:blipFill>
          <a:blip r:embed="rId1"/>
          <a:stretch/>
        </p:blipFill>
        <p:spPr>
          <a:xfrm>
            <a:off x="19244160" y="542520"/>
            <a:ext cx="5158800" cy="143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Рисунок 1" descr=""/>
          <p:cNvPicPr/>
          <p:nvPr/>
        </p:nvPicPr>
        <p:blipFill>
          <a:blip r:embed="rId2"/>
          <a:stretch/>
        </p:blipFill>
        <p:spPr>
          <a:xfrm>
            <a:off x="13416840" y="166680"/>
            <a:ext cx="2224800" cy="218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Рисунок 26" descr=""/>
          <p:cNvPicPr/>
          <p:nvPr/>
        </p:nvPicPr>
        <p:blipFill>
          <a:blip r:embed="rId3"/>
          <a:stretch/>
        </p:blipFill>
        <p:spPr>
          <a:xfrm>
            <a:off x="16062120" y="21960"/>
            <a:ext cx="2801880" cy="280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8/13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1330920" y="1730160"/>
            <a:ext cx="141490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Сравнение с аналогами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subTitle"/>
          </p:nvPr>
        </p:nvSpPr>
        <p:spPr>
          <a:xfrm>
            <a:off x="1080000" y="3307320"/>
            <a:ext cx="201600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817200" indent="-228600" algn="just">
              <a:lnSpc>
                <a:spcPct val="150000"/>
              </a:lnSpc>
              <a:buNone/>
            </a:pPr>
            <a:r>
              <a:rPr b="0" i="1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Обзор имеющихся решений/аналогов</a:t>
            </a: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</a:rPr>
              <a:t> — В ходе исследования я нашёл 4 подобных сайта: </a:t>
            </a:r>
            <a:endParaRPr b="0" lang="ru-RU" sz="2800" strike="noStrike" u="none">
              <a:solidFill>
                <a:srgbClr val="000000"/>
              </a:solidFill>
              <a:uFillTx/>
              <a:latin typeface="Tahoma"/>
              <a:ea typeface="Times New Roman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1. bmx_configurator— сайт для создания </a:t>
            </a:r>
            <a:r>
              <a:rPr b="0" lang="en-US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BMX-</a:t>
            </a: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велосипедов, что охватывает довольно узкий круг моделей</a:t>
            </a:r>
            <a:endParaRPr b="0" lang="ru-RU" sz="2800" strike="noStrike" u="none">
              <a:solidFill>
                <a:srgbClr val="ffffff"/>
              </a:solidFill>
              <a:uFillTx/>
              <a:latin typeface="Tahoma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2. Fanatik bike— сайт для кастомизации велосипедов исключительно профессионального уровня</a:t>
            </a:r>
            <a:endParaRPr b="0" lang="ru-RU" sz="2800" strike="noStrike" u="none">
              <a:solidFill>
                <a:srgbClr val="ffffff"/>
              </a:solidFill>
              <a:uFillTx/>
              <a:latin typeface="Tahoma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3. Bikology (builder)— аналогично с прошлым примером</a:t>
            </a:r>
            <a:endParaRPr b="0" lang="ru-RU" sz="2800" strike="noStrike" u="none">
              <a:solidFill>
                <a:srgbClr val="ffffff"/>
              </a:solidFill>
              <a:uFillTx/>
              <a:latin typeface="Tahoma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4. Wilier (configurator)— сайт для создания дизайна велосипеда, однако ничего, кроме вида его раскраски, изменять не предполагается</a:t>
            </a:r>
            <a:endParaRPr b="0" lang="ru-RU" sz="2800" strike="noStrike" u="none">
              <a:solidFill>
                <a:srgbClr val="ffffff"/>
              </a:solidFill>
              <a:uFillTx/>
              <a:latin typeface="Tahoma"/>
            </a:endParaRPr>
          </a:p>
          <a:p>
            <a:pPr marL="817200" indent="0" algn="just">
              <a:lnSpc>
                <a:spcPct val="150000"/>
              </a:lnSpc>
              <a:buNone/>
            </a:pPr>
            <a:endParaRPr b="0" lang="ru-RU" sz="2800" strike="noStrike" u="none">
              <a:solidFill>
                <a:srgbClr val="ffffff"/>
              </a:solidFill>
              <a:uFillTx/>
              <a:latin typeface="Tahoma"/>
            </a:endParaRPr>
          </a:p>
          <a:p>
            <a:pPr marL="817200" indent="0" algn="just">
              <a:lnSpc>
                <a:spcPct val="150000"/>
              </a:lnSpc>
              <a:buNone/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Tahoma"/>
              </a:rPr>
              <a:t>Также, у каждого из вышеперечисленных сайтов отсутствует русский язык и каждый из интернет-магазинов, представляющих эти сайты, дислоцируется в Северной Америке (США или Канада), что исключает возможность заказа собранного велосипеда без дополнительных комиссий, наценок и тп в РФ.</a:t>
            </a:r>
            <a:endParaRPr b="0" lang="ru-RU" sz="2800" strike="noStrike" u="none">
              <a:solidFill>
                <a:srgbClr val="000000"/>
              </a:solidFill>
              <a:uFillTx/>
              <a:latin typeface="Tahoma"/>
              <a:ea typeface="Times New Roman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dt" idx="37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257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58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59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0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9/13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0835280" cy="31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Экономическая составляющая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subTitle"/>
          </p:nvPr>
        </p:nvSpPr>
        <p:spPr>
          <a:xfrm>
            <a:off x="1207800" y="5107320"/>
            <a:ext cx="1121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Весь проект написан программным кодом, который является умственным трудом, но не материальными затратами, однако, если учитывать 1 человеко/час начинающего программиста равным 300 рублям, то общая сумма складывается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120 час * 500 руб = 60 000 руб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Аннотация к проекту (печать) = 200 руб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Итого: 60 200 рублей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dt" idx="38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265" name="Группа 9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66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7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8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9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10/13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296480" cy="12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Заключение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dt" idx="39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3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74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75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6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7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78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11/13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1620000" y="6480000"/>
            <a:ext cx="13860000" cy="4500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Несмотря на текущие трудности с заполнением базы данных, удалось разработать функциональный веб-приложение с интуитивно понятным интерфейсом, привлекательным дизайном и интеграцией современных технологий. 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/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Проект демонстрирует потенциал для дальнейшего развития, включая добавление новых функций, расширение каталога товаров и улучшение взаимодействия с пользователями. В дальнейшем важно сосредоточиться на заполнении базы данных и привлечении заказчиков для успешного запуска и масштабирования платформы.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16740000" y="5940000"/>
            <a:ext cx="5580000" cy="3240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Итог проекта "Сайт Велосборщик" состоит в создании интернет-платформы, позволяющей пользователям легко и удобно настраивать индивидуальные велосипеды, получая доступ к широкому выбору компонентов и информации о них. 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Прямоугольник 14"/>
          <p:cNvSpPr/>
          <p:nvPr/>
        </p:nvSpPr>
        <p:spPr>
          <a:xfrm>
            <a:off x="0" y="0"/>
            <a:ext cx="24382080" cy="49374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2047400" cy="120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Список используемой литературы</a:t>
            </a:r>
            <a:endParaRPr b="0" lang="ru-RU" sz="8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subTitle"/>
          </p:nvPr>
        </p:nvSpPr>
        <p:spPr>
          <a:xfrm>
            <a:off x="13987800" y="9360000"/>
            <a:ext cx="9952200" cy="299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817200" indent="0" algn="just">
              <a:lnSpc>
                <a:spcPct val="150000"/>
              </a:lnSpc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dt" idx="40"/>
          </p:nvPr>
        </p:nvSpPr>
        <p:spPr>
          <a:xfrm>
            <a:off x="1300320" y="11867040"/>
            <a:ext cx="3033000" cy="72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5" name="Заголовок 1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1828800">
              <a:lnSpc>
                <a:spcPts val="7699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86" name="Группа 16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87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88" name="Рисунок 12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89" name="Рисунок 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0" name=""/>
          <p:cNvSpPr/>
          <p:nvPr/>
        </p:nvSpPr>
        <p:spPr>
          <a:xfrm>
            <a:off x="22320000" y="12600000"/>
            <a:ext cx="126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12/13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1" name="" descr=""/>
          <p:cNvPicPr/>
          <p:nvPr/>
        </p:nvPicPr>
        <p:blipFill>
          <a:blip r:embed="rId4"/>
          <a:stretch/>
        </p:blipFill>
        <p:spPr>
          <a:xfrm>
            <a:off x="8460000" y="4992120"/>
            <a:ext cx="7740000" cy="7724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Прямоугольник 2"/>
          <p:cNvSpPr/>
          <p:nvPr/>
        </p:nvSpPr>
        <p:spPr>
          <a:xfrm>
            <a:off x="0" y="0"/>
            <a:ext cx="24382080" cy="288000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93" name="Заголовок 5"/>
          <p:cNvSpPr/>
          <p:nvPr/>
        </p:nvSpPr>
        <p:spPr>
          <a:xfrm>
            <a:off x="1298520" y="3372840"/>
            <a:ext cx="19640880" cy="10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94" name="Группа 2"/>
          <p:cNvGrpSpPr/>
          <p:nvPr/>
        </p:nvGrpSpPr>
        <p:grpSpPr>
          <a:xfrm>
            <a:off x="13608360" y="21960"/>
            <a:ext cx="10340280" cy="2801880"/>
            <a:chOff x="13608360" y="21960"/>
            <a:chExt cx="10340280" cy="2801880"/>
          </a:xfrm>
        </p:grpSpPr>
        <p:pic>
          <p:nvPicPr>
            <p:cNvPr id="295" name="Picture 3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5080" cy="105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96" name="Рисунок 3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840" cy="2073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97" name="Рисунок 4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880" cy="2801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8" name=""/>
          <p:cNvSpPr/>
          <p:nvPr/>
        </p:nvSpPr>
        <p:spPr>
          <a:xfrm>
            <a:off x="0" y="2880000"/>
            <a:ext cx="24382440" cy="10836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ru-RU" sz="7200" strike="noStrike" u="none">
                <a:solidFill>
                  <a:srgbClr val="000000"/>
                </a:solidFill>
                <a:uFillTx/>
                <a:latin typeface="Arial"/>
              </a:rPr>
              <a:t>Спасибо за внимание</a:t>
            </a:r>
            <a:endParaRPr b="0" lang="ru-RU" sz="7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1160</TotalTime>
  <Application>LibreOffice/24.8.4.2$Windows_X86_64 LibreOffice_project/bb3cfa12c7b1bf994ecc5649a80400d06cd71002</Application>
  <AppVersion>15.0000</AppVersion>
  <Words>102</Words>
  <Paragraphs>47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2022-07-26T11:52:44Z</dcterms:created>
  <dc:creator>ДД</dc:creator>
  <dc:description/>
  <dc:language>ru-RU</dc:language>
  <cp:lastModifiedBy/>
  <dcterms:modified xsi:type="dcterms:W3CDTF">2025-01-24T16:14:50Z</dcterms:modified>
  <cp:revision>134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Произвольный</vt:lpwstr>
  </property>
  <property fmtid="{D5CDD505-2E9C-101B-9397-08002B2CF9AE}" pid="3" name="Slides">
    <vt:i4>13</vt:i4>
  </property>
</Properties>
</file>