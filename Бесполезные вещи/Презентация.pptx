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8.jpeg" ContentType="image/jpeg"/>
  <Override PartName="/ppt/media/image7.png" ContentType="image/png"/>
  <Override PartName="/ppt/media/image9.jpeg" ContentType="image/jpeg"/>
  <Override PartName="/ppt/media/image10.jpeg" ContentType="image/jpe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hdphoto1.wdp" ContentType="image/vnd.ms-photo"/>
  <Override PartName="/ppt/media/image25.png" ContentType="image/png"/>
  <Override PartName="/ppt/media/image15.png" ContentType="image/png"/>
  <Override PartName="/ppt/media/image16.png" ContentType="image/png"/>
  <Override PartName="/ppt/media/hdphoto2.wdp" ContentType="image/vnd.ms-photo"/>
  <Override PartName="/ppt/media/image2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3" r:id="rId14"/>
    <p:sldMasterId id="2147483675" r:id="rId15"/>
    <p:sldMasterId id="2147483677" r:id="rId16"/>
    <p:sldMasterId id="2147483679" r:id="rId17"/>
    <p:sldMasterId id="2147483681" r:id="rId18"/>
    <p:sldMasterId id="2147483683" r:id="rId19"/>
    <p:sldMasterId id="2147483685" r:id="rId20"/>
    <p:sldMasterId id="2147483687" r:id="rId21"/>
    <p:sldMasterId id="2147483689" r:id="rId22"/>
  </p:sldMasterIdLst>
  <p:sldIdLst>
    <p:sldId id="256" r:id="rId23"/>
    <p:sldId id="257" r:id="rId24"/>
    <p:sldId id="258" r:id="rId25"/>
    <p:sldId id="259" r:id="rId26"/>
    <p:sldId id="260" r:id="rId27"/>
    <p:sldId id="261" r:id="rId28"/>
    <p:sldId id="262" r:id="rId29"/>
    <p:sldId id="263" r:id="rId30"/>
    <p:sldId id="264" r:id="rId31"/>
    <p:sldId id="265" r:id="rId32"/>
    <p:sldId id="266" r:id="rId33"/>
    <p:sldId id="267" r:id="rId34"/>
    <p:sldId id="268" r:id="rId35"/>
  </p:sldIdLst>
  <p:sldSz cx="24382413" cy="13716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" Target="slides/slide1.xml"/><Relationship Id="rId24" Type="http://schemas.openxmlformats.org/officeDocument/2006/relationships/slide" Target="slides/slide2.xml"/><Relationship Id="rId25" Type="http://schemas.openxmlformats.org/officeDocument/2006/relationships/slide" Target="slides/slide3.xml"/><Relationship Id="rId26" Type="http://schemas.openxmlformats.org/officeDocument/2006/relationships/slide" Target="slides/slide4.xml"/><Relationship Id="rId27" Type="http://schemas.openxmlformats.org/officeDocument/2006/relationships/slide" Target="slides/slide5.xml"/><Relationship Id="rId28" Type="http://schemas.openxmlformats.org/officeDocument/2006/relationships/slide" Target="slides/slide6.xml"/><Relationship Id="rId29" Type="http://schemas.openxmlformats.org/officeDocument/2006/relationships/slide" Target="slides/slide7.xml"/><Relationship Id="rId30" Type="http://schemas.openxmlformats.org/officeDocument/2006/relationships/slide" Target="slides/slide8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380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5097BF9-A2D6-4664-A714-51962C9A1B5D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Акцентные плаш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F5462E-FD79-41B7-BCD6-A2009ABB3491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Акцентные плашки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FC222BFD-64F9-475F-9CFF-97CBDFFFE3EB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Акцентные плашки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12FBF268-4FAC-45B2-87E0-4427F2B8FD8E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зображе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4C2CD44-16D1-4B5D-9F49-B0D98ED0F266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зображения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B3113BFE-A466-44E3-9FD4-7C6D2FB21648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иаграм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C1E5879-E2A8-4707-B072-F34DD64D6459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График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D0550F6-069B-464D-9060-0C0C849158DF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абл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A9FAFA92-CFF8-4A20-A998-9F13AD1A9A4D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ключитель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380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ubTitle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380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ubTitle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380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аздел или гл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аздел или глав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аздел или глава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нфограф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BE6A73A5-D738-45E5-AABE-0AF4A10DEA64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нфографика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EB63B58-95C6-4FE8-9844-859DD4E2B4A0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Инфографика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208F0FE-C5E8-4681-A2DD-66A7F6667247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Булли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C584D8D7-9DB1-43F0-B370-A26CED7F35BC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6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17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8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9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0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1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298520" y="7890840"/>
            <a:ext cx="99518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7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Рисунок 2" descr=""/>
          <p:cNvPicPr/>
          <p:nvPr/>
        </p:nvPicPr>
        <p:blipFill>
          <a:blip r:embed="rId4"/>
          <a:stretch/>
        </p:blipFill>
        <p:spPr>
          <a:xfrm>
            <a:off x="1390680" y="4776120"/>
            <a:ext cx="2216880" cy="183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Рисунок 3" descr=""/>
          <p:cNvPicPr/>
          <p:nvPr/>
        </p:nvPicPr>
        <p:blipFill>
          <a:blip r:embed="rId5"/>
          <a:stretch/>
        </p:blipFill>
        <p:spPr>
          <a:xfrm>
            <a:off x="8762400" y="4599720"/>
            <a:ext cx="1763280" cy="201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" name="Рисунок 5" descr=""/>
          <p:cNvPicPr/>
          <p:nvPr/>
        </p:nvPicPr>
        <p:blipFill>
          <a:blip r:embed="rId6"/>
          <a:stretch/>
        </p:blipFill>
        <p:spPr>
          <a:xfrm>
            <a:off x="16116480" y="4401720"/>
            <a:ext cx="1923840" cy="221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1"/>
          <p:cNvSpPr>
            <a:spLocks noGrp="1"/>
          </p:cNvSpPr>
          <p:nvPr>
            <p:ph type="ftr" idx="2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ldNum" idx="3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4C46B200-BB90-4FFA-9E9F-9CAE46C58C55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7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6"/>
          <p:cNvSpPr/>
          <p:nvPr/>
        </p:nvSpPr>
        <p:spPr>
          <a:xfrm>
            <a:off x="12442680" y="4707720"/>
            <a:ext cx="11939040" cy="571212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pic>
        <p:nvPicPr>
          <p:cNvPr id="14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6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Рисунок 9" descr=""/>
          <p:cNvPicPr/>
          <p:nvPr/>
        </p:nvPicPr>
        <p:blipFill>
          <a:blip r:embed="rId4"/>
          <a:stretch/>
        </p:blipFill>
        <p:spPr>
          <a:xfrm>
            <a:off x="13193280" y="5430240"/>
            <a:ext cx="2166480" cy="181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ftr" idx="4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5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34F037AF-1505-4F00-8907-A136D3A8B151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 25"/>
          <p:cNvSpPr/>
          <p:nvPr/>
        </p:nvSpPr>
        <p:spPr>
          <a:xfrm>
            <a:off x="0" y="4707720"/>
            <a:ext cx="24381720" cy="736920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pic>
        <p:nvPicPr>
          <p:cNvPr id="21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3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ftr" idx="6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7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D48E6B88-B590-4899-A808-6D25D5B7F06B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Прямоугольник 25"/>
          <p:cNvSpPr/>
          <p:nvPr/>
        </p:nvSpPr>
        <p:spPr>
          <a:xfrm>
            <a:off x="0" y="3907440"/>
            <a:ext cx="11667960" cy="736920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pic>
        <p:nvPicPr>
          <p:cNvPr id="27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ftr" idx="8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9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66C89DFD-449C-4AAC-A388-22AF567C3A7A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4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ftr" idx="10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11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5DC737D6-E91B-45A2-A51C-5C84F43601E3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9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Прямоугольник 10"/>
          <p:cNvSpPr/>
          <p:nvPr/>
        </p:nvSpPr>
        <p:spPr>
          <a:xfrm>
            <a:off x="0" y="8533800"/>
            <a:ext cx="11939040" cy="3392280"/>
          </a:xfrm>
          <a:prstGeom prst="rect">
            <a:avLst/>
          </a:prstGeom>
          <a:solidFill>
            <a:schemeClr val="accent6"/>
          </a:solidFill>
          <a:ln>
            <a:solidFill>
              <a:srgbClr val="0a1e6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accent6"/>
              </a:solidFill>
              <a:uFillTx/>
              <a:latin typeface="Tahoma"/>
            </a:endParaRPr>
          </a:p>
        </p:txBody>
      </p:sp>
      <p:pic>
        <p:nvPicPr>
          <p:cNvPr id="41" name="Рисунок 19" descr=""/>
          <p:cNvPicPr/>
          <p:nvPr/>
        </p:nvPicPr>
        <p:blipFill>
          <a:blip r:embed="rId4"/>
          <a:stretch/>
        </p:blipFill>
        <p:spPr>
          <a:xfrm>
            <a:off x="1728720" y="9141840"/>
            <a:ext cx="2285280" cy="189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ftr" idx="12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ldNum" idx="13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91C61364-0035-4C34-99E6-3B6D4A7D04E3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46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PlaceHolder 1"/>
          <p:cNvSpPr>
            <a:spLocks noGrp="1"/>
          </p:cNvSpPr>
          <p:nvPr>
            <p:ph type="ftr" idx="14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15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71F6424D-E016-4562-95EB-823DF6833DB9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51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PlaceHolder 1"/>
          <p:cNvSpPr>
            <a:spLocks noGrp="1"/>
          </p:cNvSpPr>
          <p:nvPr>
            <p:ph type="ftr" idx="16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sldNum" idx="17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1758137A-E2DE-4B1D-A86D-CBBEE546DAEE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56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PlaceHolder 1"/>
          <p:cNvSpPr>
            <a:spLocks noGrp="1"/>
          </p:cNvSpPr>
          <p:nvPr>
            <p:ph type="ftr" idx="18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ldNum" idx="19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66F5A7C8-48FA-4F5E-90BC-D61DCFC61B77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1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Рисунок 4" descr=""/>
          <p:cNvPicPr/>
          <p:nvPr/>
        </p:nvPicPr>
        <p:blipFill>
          <a:blip r:embed="rId3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dt" idx="20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380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380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  <p:sldLayoutId id="2147483672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1298520" y="7890840"/>
            <a:ext cx="99518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dt" idx="21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298520" y="7890840"/>
            <a:ext cx="99518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3440" cy="795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dt" idx="22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PlaceHolder 1"/>
          <p:cNvSpPr>
            <a:spLocks noGrp="1"/>
          </p:cNvSpPr>
          <p:nvPr>
            <p:ph type="dt" idx="23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78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PlaceHolder 1"/>
          <p:cNvSpPr>
            <a:spLocks noGrp="1"/>
          </p:cNvSpPr>
          <p:nvPr>
            <p:ph type="ftr" idx="24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 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25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B7F83E13-04CE-433D-AD93-664B1A5B224A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4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83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PlaceHolder 1"/>
          <p:cNvSpPr>
            <a:spLocks noGrp="1"/>
          </p:cNvSpPr>
          <p:nvPr>
            <p:ph type="ftr" idx="26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ldNum" idx="27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7BECAF3D-E9D1-4231-AD29-F0E15CFB4275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4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88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PlaceHolder 1"/>
          <p:cNvSpPr>
            <a:spLocks noGrp="1"/>
          </p:cNvSpPr>
          <p:nvPr>
            <p:ph type="ftr" idx="28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ldNum" idx="29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63B59DFF-D942-4B83-B0B1-93F750B7BE49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4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Рисунок 4" descr=""/>
          <p:cNvPicPr/>
          <p:nvPr/>
        </p:nvPicPr>
        <p:blipFill>
          <a:blip r:embed="rId2"/>
          <a:stretch/>
        </p:blipFill>
        <p:spPr>
          <a:xfrm>
            <a:off x="1335960" y="5430240"/>
            <a:ext cx="161280" cy="12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TextBox 17"/>
          <p:cNvSpPr/>
          <p:nvPr/>
        </p:nvSpPr>
        <p:spPr>
          <a:xfrm>
            <a:off x="19811880" y="655560"/>
            <a:ext cx="3272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1828800">
              <a:lnSpc>
                <a:spcPct val="100000"/>
              </a:lnSpc>
            </a:pPr>
            <a:r>
              <a:rPr b="0" lang="en-US" sz="1600" strike="noStrike" u="none">
                <a:solidFill>
                  <a:schemeClr val="accent1"/>
                </a:solidFill>
                <a:uFillTx/>
                <a:latin typeface="Tahoma"/>
              </a:rPr>
              <a:t>misis.ru</a:t>
            </a:r>
            <a:endParaRPr b="0" lang="ru-RU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93" name="Рисунок 18" descr=""/>
          <p:cNvPicPr/>
          <p:nvPr/>
        </p:nvPicPr>
        <p:blipFill>
          <a:blip r:embed="rId3"/>
          <a:stretch/>
        </p:blipFill>
        <p:spPr>
          <a:xfrm>
            <a:off x="1395720" y="399240"/>
            <a:ext cx="2393280" cy="96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PlaceHolder 1"/>
          <p:cNvSpPr>
            <a:spLocks noGrp="1"/>
          </p:cNvSpPr>
          <p:nvPr>
            <p:ph type="ftr" idx="30"/>
          </p:nvPr>
        </p:nvSpPr>
        <p:spPr>
          <a:xfrm>
            <a:off x="1302480" y="12664440"/>
            <a:ext cx="695160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2">
                    <a:tint val="75000"/>
                  </a:schemeClr>
                </a:solidFill>
                <a:uFillTx/>
                <a:latin typeface="Tahoma"/>
              </a:rPr>
              <a:t>&lt;нижний колонтитул&gt;</a:t>
            </a:r>
            <a:endParaRPr b="0" lang="ru-RU" sz="15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sldNum" idx="31"/>
          </p:nvPr>
        </p:nvSpPr>
        <p:spPr>
          <a:xfrm>
            <a:off x="19811880" y="12630960"/>
            <a:ext cx="328896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1828800">
              <a:lnSpc>
                <a:spcPct val="100000"/>
              </a:lnSpc>
              <a:buNone/>
              <a:tabLst>
                <a:tab algn="l" pos="0"/>
              </a:tabLst>
              <a:def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defRPr>
            </a:lvl1pPr>
          </a:lstStyle>
          <a:p>
            <a:pPr indent="0" algn="r" defTabSz="1828800">
              <a:lnSpc>
                <a:spcPct val="100000"/>
              </a:lnSpc>
              <a:buNone/>
              <a:tabLst>
                <a:tab algn="l" pos="0"/>
              </a:tabLst>
            </a:pPr>
            <a:fld id="{B73FB3D4-AF09-42E1-B4B4-34940B0635BA}" type="slidenum">
              <a:rPr b="0" lang="ru-RU" sz="2300" strike="noStrike" u="none">
                <a:solidFill>
                  <a:schemeClr val="accent1">
                    <a:tint val="75000"/>
                  </a:schemeClr>
                </a:solidFill>
                <a:uFillTx/>
                <a:latin typeface="Tahoma"/>
              </a:rPr>
              <a:t>&lt;номер&gt;</a:t>
            </a:fld>
            <a:endParaRPr b="0" lang="ru-RU" sz="23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microsoft.com/office/2007/relationships/hdphoto" Target="../media/hdphoto1.wdp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microsoft.com/office/2007/relationships/hdphoto" Target="../media/hdphoto2.wdp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26.png"/><Relationship Id="rId5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Прямоугольник 3"/>
          <p:cNvSpPr/>
          <p:nvPr/>
        </p:nvSpPr>
        <p:spPr>
          <a:xfrm>
            <a:off x="1008360" y="891000"/>
            <a:ext cx="4835520" cy="2196720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355040" y="3312360"/>
            <a:ext cx="16747560" cy="140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847800">
              <a:lnSpc>
                <a:spcPts val="2999"/>
              </a:lnSpc>
              <a:buNone/>
              <a:tabLst>
                <a:tab algn="l" pos="0"/>
              </a:tabLst>
            </a:pPr>
            <a:r>
              <a:rPr b="1" lang="ru-RU" sz="4400" strike="noStrike" u="none">
                <a:solidFill>
                  <a:schemeClr val="accent1">
                    <a:lumMod val="45000"/>
                    <a:lumOff val="55000"/>
                  </a:schemeClr>
                </a:solidFill>
                <a:uFillTx/>
                <a:latin typeface="Tahoma"/>
              </a:rPr>
              <a:t>Индивидуальный проект</a:t>
            </a: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ubTitle"/>
          </p:nvPr>
        </p:nvSpPr>
        <p:spPr>
          <a:xfrm>
            <a:off x="540000" y="9000000"/>
            <a:ext cx="9951840" cy="479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Автор работы: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Булычев Алексей Андреевич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Наставник: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учитель информатики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ГБОУ Школа №1195 </a:t>
            </a:r>
            <a:br>
              <a:rPr sz="2800"/>
            </a:b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имени Героя Советского Союза П.И. Меренкова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Виктор Григорьевич Харитинов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99" name="Рисунок 5" descr=""/>
          <p:cNvPicPr/>
          <p:nvPr/>
        </p:nvPicPr>
        <p:blipFill>
          <a:blip r:embed="rId1"/>
          <a:srcRect l="0" t="0" r="0" b="13536"/>
          <a:stretch/>
        </p:blipFill>
        <p:spPr>
          <a:xfrm>
            <a:off x="10782360" y="1330920"/>
            <a:ext cx="5882040" cy="141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Заголовок 3"/>
          <p:cNvSpPr/>
          <p:nvPr/>
        </p:nvSpPr>
        <p:spPr>
          <a:xfrm>
            <a:off x="537480" y="5450760"/>
            <a:ext cx="11691720" cy="11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1828800">
              <a:lnSpc>
                <a:spcPct val="100000"/>
              </a:lnSpc>
            </a:pPr>
            <a:r>
              <a:rPr b="1" lang="ru-RU" sz="54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Тема проекта:</a:t>
            </a:r>
            <a:endParaRPr b="0" lang="ru-RU" sz="5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1828800">
              <a:lnSpc>
                <a:spcPct val="100000"/>
              </a:lnSpc>
            </a:pPr>
            <a:r>
              <a:rPr b="1" lang="ru-RU" sz="5400" strike="noStrike" u="none">
                <a:solidFill>
                  <a:schemeClr val="dk2"/>
                </a:solidFill>
                <a:uFillTx/>
                <a:latin typeface="Tahoma"/>
                <a:ea typeface="Tahoma"/>
              </a:rPr>
              <a:t>Велосборщик</a:t>
            </a:r>
            <a:endParaRPr b="0" lang="ru-RU" sz="5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01" name="Рисунок 6" descr=""/>
          <p:cNvPicPr/>
          <p:nvPr/>
        </p:nvPicPr>
        <p:blipFill>
          <a:blip r:embed="rId2"/>
          <a:srcRect l="31767" t="41786" r="30561" b="42541"/>
          <a:stretch/>
        </p:blipFill>
        <p:spPr>
          <a:xfrm>
            <a:off x="6075720" y="1463040"/>
            <a:ext cx="4835520" cy="142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Рисунок 7" descr=""/>
          <p:cNvPicPr/>
          <p:nvPr/>
        </p:nvPicPr>
        <p:blipFill>
          <a:blip r:embed="rId3"/>
          <a:stretch/>
        </p:blipFill>
        <p:spPr>
          <a:xfrm>
            <a:off x="1355040" y="-243720"/>
            <a:ext cx="4604040" cy="4604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7450920" cy="312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  <a:tabLst>
                <a:tab algn="l" pos="0"/>
              </a:tabLst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Проблема</a:t>
            </a:r>
            <a:endParaRPr b="0" lang="ru-RU" sz="8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720000" y="3960000"/>
            <a:ext cx="14399640" cy="299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68240" indent="-228600" algn="just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  <a:ea typeface="Times New Roman"/>
              </a:rPr>
              <a:t>Проблема моего проекта — отсутствие универсальных (и каких-либо русскоязычных) ресурсов для создания велосипедов любого уровня, ценника и класса, эта проблема касается таких слоёв населения, как велолюбители, начинающие велосипедисты и специалисты-конструкторы.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dt" idx="32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106" name="Группа 9"/>
          <p:cNvGrpSpPr/>
          <p:nvPr/>
        </p:nvGrpSpPr>
        <p:grpSpPr>
          <a:xfrm>
            <a:off x="13608360" y="21960"/>
            <a:ext cx="10339920" cy="2801520"/>
            <a:chOff x="13608360" y="21960"/>
            <a:chExt cx="10339920" cy="2801520"/>
          </a:xfrm>
        </p:grpSpPr>
        <p:pic>
          <p:nvPicPr>
            <p:cNvPr id="107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4720" cy="1051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" name="Рисунок 12" descr=""/>
            <p:cNvPicPr/>
            <p:nvPr/>
          </p:nvPicPr>
          <p:blipFill>
            <a:blip r:embed="rId3"/>
            <a:stretch/>
          </p:blipFill>
          <p:spPr>
            <a:xfrm>
              <a:off x="13608360" y="264600"/>
              <a:ext cx="2112480" cy="207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9" name="Рисунок 13" descr=""/>
            <p:cNvPicPr/>
            <p:nvPr/>
          </p:nvPicPr>
          <p:blipFill>
            <a:blip r:embed="rId4"/>
            <a:stretch/>
          </p:blipFill>
          <p:spPr>
            <a:xfrm>
              <a:off x="16062120" y="21960"/>
              <a:ext cx="2801520" cy="2801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10" name=""/>
          <p:cNvSpPr/>
          <p:nvPr/>
        </p:nvSpPr>
        <p:spPr>
          <a:xfrm>
            <a:off x="22320000" y="12600000"/>
            <a:ext cx="1259640" cy="719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2/13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7450920" cy="312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  <a:tabLst>
                <a:tab algn="l" pos="0"/>
              </a:tabLst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Цель проекта</a:t>
            </a:r>
            <a:endParaRPr b="0" lang="ru-RU" sz="8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ubTitle"/>
          </p:nvPr>
        </p:nvSpPr>
        <p:spPr>
          <a:xfrm>
            <a:off x="1207800" y="3847320"/>
            <a:ext cx="11931840" cy="299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768240" indent="-228600" algn="just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  <a:ea typeface="Times New Roman"/>
              </a:rPr>
              <a:t>Создать ресурс (веб-приложение) на котором пользователи смогут легко создавать собственные велосипедные сборки, изменять, брать готовые и после скачивать их,  а также получать информацию о различных моделях и компонентах.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dt" idx="33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114" name="Группа 9"/>
          <p:cNvGrpSpPr/>
          <p:nvPr/>
        </p:nvGrpSpPr>
        <p:grpSpPr>
          <a:xfrm>
            <a:off x="13608360" y="21960"/>
            <a:ext cx="10339920" cy="2801520"/>
            <a:chOff x="13608360" y="21960"/>
            <a:chExt cx="10339920" cy="2801520"/>
          </a:xfrm>
        </p:grpSpPr>
        <p:pic>
          <p:nvPicPr>
            <p:cNvPr id="115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4720" cy="1051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6" name="Рисунок 16" descr=""/>
            <p:cNvPicPr/>
            <p:nvPr/>
          </p:nvPicPr>
          <p:blipFill>
            <a:blip r:embed="rId3"/>
            <a:stretch/>
          </p:blipFill>
          <p:spPr>
            <a:xfrm>
              <a:off x="13608360" y="264600"/>
              <a:ext cx="2112480" cy="207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7" name="Рисунок 17" descr=""/>
            <p:cNvPicPr/>
            <p:nvPr/>
          </p:nvPicPr>
          <p:blipFill>
            <a:blip r:embed="rId4"/>
            <a:stretch/>
          </p:blipFill>
          <p:spPr>
            <a:xfrm>
              <a:off x="16062120" y="21960"/>
              <a:ext cx="2801520" cy="2801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18" name=""/>
          <p:cNvSpPr/>
          <p:nvPr/>
        </p:nvSpPr>
        <p:spPr>
          <a:xfrm>
            <a:off x="22320000" y="12600000"/>
            <a:ext cx="1259640" cy="719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3/13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3412520" cy="312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  <a:tabLst>
                <a:tab algn="l" pos="0"/>
              </a:tabLst>
            </a:pPr>
            <a:r>
              <a:rPr b="0" lang="ru-RU" sz="7200" strike="noStrike" u="none">
                <a:solidFill>
                  <a:schemeClr val="lt1"/>
                </a:solidFill>
                <a:uFillTx/>
                <a:latin typeface="Tahoma"/>
              </a:rPr>
              <a:t>Планируемые сроки и этапы реализации до прототипа</a:t>
            </a:r>
            <a:endParaRPr b="0" lang="ru-RU" sz="7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ubTitle"/>
          </p:nvPr>
        </p:nvSpPr>
        <p:spPr>
          <a:xfrm>
            <a:off x="13860000" y="4207680"/>
            <a:ext cx="9771840" cy="119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Даты и сроки выполнения работы представлены на диаграмме Ганта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dt" idx="34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122" name="Группа 9"/>
          <p:cNvGrpSpPr/>
          <p:nvPr/>
        </p:nvGrpSpPr>
        <p:grpSpPr>
          <a:xfrm>
            <a:off x="13608360" y="21960"/>
            <a:ext cx="10339920" cy="2801520"/>
            <a:chOff x="13608360" y="21960"/>
            <a:chExt cx="10339920" cy="2801520"/>
          </a:xfrm>
        </p:grpSpPr>
        <p:pic>
          <p:nvPicPr>
            <p:cNvPr id="123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4720" cy="1051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4" name="Рисунок 16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480" cy="207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5" name="Рисунок 17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520" cy="2801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26" name=""/>
          <p:cNvSpPr/>
          <p:nvPr/>
        </p:nvSpPr>
        <p:spPr>
          <a:xfrm>
            <a:off x="22320000" y="12600000"/>
            <a:ext cx="1259640" cy="719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4/13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27" name="" descr=""/>
          <p:cNvPicPr/>
          <p:nvPr/>
        </p:nvPicPr>
        <p:blipFill>
          <a:blip r:embed="rId4"/>
          <a:stretch/>
        </p:blipFill>
        <p:spPr>
          <a:xfrm>
            <a:off x="381960" y="5580000"/>
            <a:ext cx="23558040" cy="59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Прямоугольник 14"/>
          <p:cNvSpPr/>
          <p:nvPr/>
        </p:nvSpPr>
        <p:spPr>
          <a:xfrm>
            <a:off x="0" y="0"/>
            <a:ext cx="24381720" cy="493704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129" name="PlaceHolder 1"/>
          <p:cNvSpPr>
            <a:spLocks noGrp="1"/>
          </p:cNvSpPr>
          <p:nvPr>
            <p:ph type="subTitle"/>
          </p:nvPr>
        </p:nvSpPr>
        <p:spPr>
          <a:xfrm>
            <a:off x="1080000" y="5467320"/>
            <a:ext cx="9951840" cy="299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algn="just">
              <a:lnSpc>
                <a:spcPct val="15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1. Выбор технологий: Для разработки веб-приложения было решено использовать Python и библиотеку Flask в качестве основного фреймворка, что обеспечивает простоту и гибкость для создания серверной части.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dt" idx="35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1" name="Заголовок 1"/>
          <p:cNvSpPr/>
          <p:nvPr/>
        </p:nvSpPr>
        <p:spPr>
          <a:xfrm>
            <a:off x="1298520" y="3372840"/>
            <a:ext cx="19640520" cy="101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1828800">
              <a:lnSpc>
                <a:spcPts val="7699"/>
              </a:lnSpc>
            </a:pPr>
            <a:r>
              <a:rPr b="0" lang="ru-RU" sz="6600" strike="noStrike" u="none">
                <a:solidFill>
                  <a:schemeClr val="lt1"/>
                </a:solidFill>
                <a:uFillTx/>
                <a:latin typeface="Tahoma"/>
              </a:rPr>
              <a:t>Процесс создания продукта</a:t>
            </a:r>
            <a:endParaRPr b="0" lang="ru-RU" sz="6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32" name="Группа 16"/>
          <p:cNvGrpSpPr/>
          <p:nvPr/>
        </p:nvGrpSpPr>
        <p:grpSpPr>
          <a:xfrm>
            <a:off x="13608360" y="21960"/>
            <a:ext cx="10339920" cy="2801520"/>
            <a:chOff x="13608360" y="21960"/>
            <a:chExt cx="10339920" cy="2801520"/>
          </a:xfrm>
        </p:grpSpPr>
        <p:pic>
          <p:nvPicPr>
            <p:cNvPr id="133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4720" cy="1051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4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480" cy="207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5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520" cy="2801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36" name=""/>
          <p:cNvSpPr/>
          <p:nvPr/>
        </p:nvSpPr>
        <p:spPr>
          <a:xfrm>
            <a:off x="22320000" y="12600000"/>
            <a:ext cx="1259640" cy="719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5/13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37" name="" descr=""/>
          <p:cNvPicPr/>
          <p:nvPr/>
        </p:nvPicPr>
        <p:blipFill>
          <a:blip r:embed="rId4"/>
          <a:stretch/>
        </p:blipFill>
        <p:spPr>
          <a:xfrm>
            <a:off x="7020000" y="9000000"/>
            <a:ext cx="4465440" cy="393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8" name="" descr=""/>
          <p:cNvPicPr/>
          <p:nvPr/>
        </p:nvPicPr>
        <p:blipFill>
          <a:blip r:embed="rId5"/>
          <a:stretch/>
        </p:blipFill>
        <p:spPr>
          <a:xfrm>
            <a:off x="12240000" y="5205960"/>
            <a:ext cx="11994840" cy="737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Прямоугольник 14"/>
          <p:cNvSpPr/>
          <p:nvPr/>
        </p:nvSpPr>
        <p:spPr>
          <a:xfrm>
            <a:off x="0" y="0"/>
            <a:ext cx="24381720" cy="493704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subTitle"/>
          </p:nvPr>
        </p:nvSpPr>
        <p:spPr>
          <a:xfrm>
            <a:off x="1298520" y="7017480"/>
            <a:ext cx="9951840" cy="299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algn="just">
              <a:lnSpc>
                <a:spcPct val="15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Tahoma"/>
                <a:ea typeface="Times New Roman"/>
              </a:rPr>
              <a:t>2. Создание шаблонов: Весь контент сайта был структурирован с помощью HTML, что дало возможность организовать страницы. Для оформления использовались классы Bootstrap, что обеспечило современный и отзывчивый дизайн.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dt" idx="36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2" name="Заголовок 1"/>
          <p:cNvSpPr/>
          <p:nvPr/>
        </p:nvSpPr>
        <p:spPr>
          <a:xfrm>
            <a:off x="1298520" y="3372840"/>
            <a:ext cx="19640520" cy="101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1828800">
              <a:lnSpc>
                <a:spcPts val="7699"/>
              </a:lnSpc>
            </a:pPr>
            <a:r>
              <a:rPr b="0" lang="ru-RU" sz="6600" strike="noStrike" u="none">
                <a:solidFill>
                  <a:schemeClr val="lt1"/>
                </a:solidFill>
                <a:uFillTx/>
                <a:latin typeface="Tahoma"/>
              </a:rPr>
              <a:t>Процесс создания продукта</a:t>
            </a:r>
            <a:endParaRPr b="0" lang="ru-RU" sz="6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43" name="Группа 16"/>
          <p:cNvGrpSpPr/>
          <p:nvPr/>
        </p:nvGrpSpPr>
        <p:grpSpPr>
          <a:xfrm>
            <a:off x="13608360" y="21960"/>
            <a:ext cx="10339920" cy="2801520"/>
            <a:chOff x="13608360" y="21960"/>
            <a:chExt cx="10339920" cy="2801520"/>
          </a:xfrm>
        </p:grpSpPr>
        <p:pic>
          <p:nvPicPr>
            <p:cNvPr id="144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4720" cy="1051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5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480" cy="207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6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520" cy="2801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47" name=""/>
          <p:cNvSpPr/>
          <p:nvPr/>
        </p:nvSpPr>
        <p:spPr>
          <a:xfrm>
            <a:off x="22320000" y="12600000"/>
            <a:ext cx="1259640" cy="719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6/13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4"/>
          <a:stretch/>
        </p:blipFill>
        <p:spPr>
          <a:xfrm>
            <a:off x="19649880" y="5220000"/>
            <a:ext cx="4516920" cy="359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" descr=""/>
          <p:cNvPicPr/>
          <p:nvPr/>
        </p:nvPicPr>
        <p:blipFill>
          <a:blip r:embed="rId5"/>
          <a:stretch/>
        </p:blipFill>
        <p:spPr>
          <a:xfrm>
            <a:off x="11700000" y="9097560"/>
            <a:ext cx="12185280" cy="3302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Прямоугольник 14"/>
          <p:cNvSpPr/>
          <p:nvPr/>
        </p:nvSpPr>
        <p:spPr>
          <a:xfrm>
            <a:off x="0" y="0"/>
            <a:ext cx="24381720" cy="493704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subTitle"/>
          </p:nvPr>
        </p:nvSpPr>
        <p:spPr>
          <a:xfrm>
            <a:off x="900000" y="5467320"/>
            <a:ext cx="10619640" cy="299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algn="just">
              <a:lnSpc>
                <a:spcPct val="15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Tahoma"/>
                <a:ea typeface="Times New Roman"/>
              </a:rPr>
              <a:t>4. Работа с базой данных: Для хранения и управления данными использовалась ORM-библиотека SQLAlchemy, которая обеспечила удобный способ работы с базой данных. В качестве базы данных была выбрана SQLite, что дало возможность легко интегрировать и управлять данными без необходимости создания отдельного сервера.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dt" idx="37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3" name="Заголовок 1"/>
          <p:cNvSpPr/>
          <p:nvPr/>
        </p:nvSpPr>
        <p:spPr>
          <a:xfrm>
            <a:off x="1298520" y="3372840"/>
            <a:ext cx="19640520" cy="101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1828800">
              <a:lnSpc>
                <a:spcPts val="7699"/>
              </a:lnSpc>
            </a:pPr>
            <a:r>
              <a:rPr b="0" lang="ru-RU" sz="6600" strike="noStrike" u="none">
                <a:solidFill>
                  <a:schemeClr val="lt1"/>
                </a:solidFill>
                <a:uFillTx/>
                <a:latin typeface="Tahoma"/>
              </a:rPr>
              <a:t>Процесс создания продукта</a:t>
            </a:r>
            <a:endParaRPr b="0" lang="ru-RU" sz="6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54" name="Группа 16"/>
          <p:cNvGrpSpPr/>
          <p:nvPr/>
        </p:nvGrpSpPr>
        <p:grpSpPr>
          <a:xfrm>
            <a:off x="13608360" y="21960"/>
            <a:ext cx="10339920" cy="2801520"/>
            <a:chOff x="13608360" y="21960"/>
            <a:chExt cx="10339920" cy="2801520"/>
          </a:xfrm>
        </p:grpSpPr>
        <p:pic>
          <p:nvPicPr>
            <p:cNvPr id="155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4720" cy="1051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56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480" cy="207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57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520" cy="2801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58" name=""/>
          <p:cNvSpPr/>
          <p:nvPr/>
        </p:nvSpPr>
        <p:spPr>
          <a:xfrm>
            <a:off x="22320000" y="12600000"/>
            <a:ext cx="1259640" cy="719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7/13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59" name="" descr=""/>
          <p:cNvPicPr/>
          <p:nvPr/>
        </p:nvPicPr>
        <p:blipFill>
          <a:blip r:embed="rId4"/>
          <a:stretch/>
        </p:blipFill>
        <p:spPr>
          <a:xfrm>
            <a:off x="13545000" y="5114520"/>
            <a:ext cx="10655280" cy="6765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" descr=""/>
          <p:cNvPicPr/>
          <p:nvPr/>
        </p:nvPicPr>
        <p:blipFill>
          <a:blip r:embed="rId5"/>
          <a:stretch/>
        </p:blipFill>
        <p:spPr>
          <a:xfrm>
            <a:off x="5400000" y="11160000"/>
            <a:ext cx="5933880" cy="233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Прямоугольник 14"/>
          <p:cNvSpPr/>
          <p:nvPr/>
        </p:nvSpPr>
        <p:spPr>
          <a:xfrm>
            <a:off x="0" y="0"/>
            <a:ext cx="12953160" cy="1371528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0834920" cy="312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  <a:tabLst>
                <a:tab algn="l" pos="0"/>
              </a:tabLst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Продукт проекта</a:t>
            </a:r>
            <a:endParaRPr b="0" lang="ru-RU" sz="8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subTitle"/>
          </p:nvPr>
        </p:nvSpPr>
        <p:spPr>
          <a:xfrm>
            <a:off x="1207800" y="3487320"/>
            <a:ext cx="9951840" cy="299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just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Сайт Велосборщик — веб-приложение, написанное на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Python 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при помощи библиотеки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flask. 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Все шаблоны страниц сайта делались на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YS Text;apple-system"/>
                <a:ea typeface="Times New Roman"/>
              </a:rPr>
              <a:t>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YS Text;apple-system"/>
                <a:ea typeface="Times New Roman"/>
              </a:rPr>
              <a:t>HTML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– 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языке гипертекстовой разметки для структурирования и оформления с использованием классов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Bootstrap, 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для динамичности сайта использовался язык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JavaScript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. Работа с БД выполнялась через библиотеку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 ORM sqlalchemy, 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сама база данных — </a:t>
            </a:r>
            <a:r>
              <a:rPr b="0" lang="en-US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SqlLite</a:t>
            </a:r>
            <a:r>
              <a:rPr b="0" lang="ru-RU" sz="3200" strike="noStrike" u="none">
                <a:solidFill>
                  <a:srgbClr val="ffffff"/>
                </a:solidFill>
                <a:uFillTx/>
                <a:latin typeface="Times New Roman"/>
                <a:ea typeface="Times New Roman"/>
              </a:rPr>
              <a:t>.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dt" idx="38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5" name="Google Shape;763;p71"/>
          <p:cNvSpPr/>
          <p:nvPr/>
        </p:nvSpPr>
        <p:spPr>
          <a:xfrm>
            <a:off x="13941720" y="4074840"/>
            <a:ext cx="9303120" cy="5884200"/>
          </a:xfrm>
          <a:prstGeom prst="roundRect">
            <a:avLst>
              <a:gd name="adj" fmla="val 2154"/>
            </a:avLst>
          </a:prstGeom>
          <a:noFill/>
          <a:ln w="19050">
            <a:solidFill>
              <a:srgbClr val="0541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1828800">
              <a:lnSpc>
                <a:spcPct val="100000"/>
              </a:lnSpc>
              <a:tabLst>
                <a:tab algn="l" pos="0"/>
              </a:tabLst>
            </a:pPr>
            <a:endParaRPr b="0" lang="ru-RU" sz="3600" strike="noStrike" u="none">
              <a:solidFill>
                <a:schemeClr val="dk1"/>
              </a:solidFill>
              <a:uFillTx/>
              <a:latin typeface="Tahoma"/>
            </a:endParaRPr>
          </a:p>
        </p:txBody>
      </p:sp>
      <p:sp>
        <p:nvSpPr>
          <p:cNvPr id="166" name="Подзаголовок 2"/>
          <p:cNvSpPr/>
          <p:nvPr/>
        </p:nvSpPr>
        <p:spPr>
          <a:xfrm>
            <a:off x="14252400" y="4386600"/>
            <a:ext cx="6107400" cy="90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1828800">
              <a:lnSpc>
                <a:spcPct val="100000"/>
              </a:lnSpc>
              <a:tabLst>
                <a:tab algn="l" pos="0"/>
              </a:tabLst>
            </a:pPr>
            <a:r>
              <a:rPr b="0" lang="ru-RU" sz="4000" strike="noStrike" u="none">
                <a:solidFill>
                  <a:schemeClr val="accent1"/>
                </a:solidFill>
                <a:uFillTx/>
                <a:latin typeface="Tahoma"/>
              </a:rPr>
              <a:t>Место для изображения</a:t>
            </a:r>
            <a:endParaRPr b="0" lang="ru-RU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67" name="Рисунок 11" descr=""/>
          <p:cNvPicPr/>
          <p:nvPr/>
        </p:nvPicPr>
        <p:blipFill>
          <a:blip r:embed="rId1"/>
          <a:stretch/>
        </p:blipFill>
        <p:spPr>
          <a:xfrm>
            <a:off x="19244160" y="542520"/>
            <a:ext cx="5158440" cy="143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Рисунок 1" descr=""/>
          <p:cNvPicPr/>
          <p:nvPr/>
        </p:nvPicPr>
        <p:blipFill>
          <a:blip r:embed="rId2"/>
          <a:stretch/>
        </p:blipFill>
        <p:spPr>
          <a:xfrm>
            <a:off x="13416840" y="166680"/>
            <a:ext cx="2224440" cy="218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9" name="Рисунок 26" descr=""/>
          <p:cNvPicPr/>
          <p:nvPr/>
        </p:nvPicPr>
        <p:blipFill>
          <a:blip r:embed="rId3"/>
          <a:stretch/>
        </p:blipFill>
        <p:spPr>
          <a:xfrm>
            <a:off x="16062120" y="21960"/>
            <a:ext cx="2801520" cy="280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22320000" y="12600000"/>
            <a:ext cx="1259640" cy="719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8/13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330920" y="1730160"/>
            <a:ext cx="14148720" cy="312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  <a:tabLst>
                <a:tab algn="l" pos="0"/>
              </a:tabLst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Сравнение с аналогами</a:t>
            </a:r>
            <a:endParaRPr b="0" lang="ru-RU" sz="8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subTitle"/>
          </p:nvPr>
        </p:nvSpPr>
        <p:spPr>
          <a:xfrm>
            <a:off x="1080000" y="3307320"/>
            <a:ext cx="20159640" cy="299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817200" indent="-228600" algn="just">
              <a:lnSpc>
                <a:spcPct val="150000"/>
              </a:lnSpc>
              <a:buNone/>
              <a:tabLst>
                <a:tab algn="l" pos="0"/>
              </a:tabLst>
            </a:pPr>
            <a:r>
              <a:rPr b="0" i="1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Обзор имеющихся решений/аналогов</a:t>
            </a: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 — В ходе исследования я нашёл 4 подобных сайта: </a:t>
            </a: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817200" indent="0" algn="just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1. bmx_configurator— сайт для создания </a:t>
            </a:r>
            <a:r>
              <a:rPr b="0" lang="en-US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BMX-</a:t>
            </a: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велосипедов, что охватывает довольно узкий круг моделей</a:t>
            </a: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817200" indent="0" algn="just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2. Fanatik bike— сайт для кастомизации велосипедов исключительно профессионального уровня</a:t>
            </a: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817200" indent="0" algn="just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3. Bikology (builder)— аналогично с прошлым примером</a:t>
            </a: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817200" indent="0" algn="just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rgbClr val="ffffff"/>
                </a:solidFill>
                <a:uFillTx/>
                <a:latin typeface="Tahoma"/>
                <a:ea typeface="Times New Roman"/>
              </a:rPr>
              <a:t>4. Wilier (configurator)— сайт для создания дизайна велосипеда, однако ничего, кроме вида его раскраски, изменять не предполагается</a:t>
            </a: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817200" indent="0" algn="just">
              <a:lnSpc>
                <a:spcPct val="150000"/>
              </a:lnSpc>
              <a:buNone/>
              <a:tabLst>
                <a:tab algn="l" pos="0"/>
              </a:tabLst>
            </a:pP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817200" indent="0" algn="just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lt1"/>
                </a:solidFill>
                <a:uFillTx/>
                <a:latin typeface="Tahoma"/>
                <a:ea typeface="Times New Roman"/>
              </a:rPr>
              <a:t>Также, у каждого из вышеперечисленных сайтов отсутствует русский язык и каждый из интернет-магазинов, представляющих эти сайты, дислоцируется в Северной Америке (США или Канада), что исключает возможность заказа собранного велосипеда без дополнительных комиссий, наценок и тп в РФ.</a:t>
            </a:r>
            <a:endParaRPr b="0" lang="ru-RU" sz="2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dt" idx="39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174" name="Группа 9"/>
          <p:cNvGrpSpPr/>
          <p:nvPr/>
        </p:nvGrpSpPr>
        <p:grpSpPr>
          <a:xfrm>
            <a:off x="13608360" y="21960"/>
            <a:ext cx="10339920" cy="2801520"/>
            <a:chOff x="13608360" y="21960"/>
            <a:chExt cx="10339920" cy="2801520"/>
          </a:xfrm>
        </p:grpSpPr>
        <p:pic>
          <p:nvPicPr>
            <p:cNvPr id="175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4720" cy="1051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76" name="Рисунок 16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480" cy="207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77" name="Рисунок 17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520" cy="2801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78" name=""/>
          <p:cNvSpPr/>
          <p:nvPr/>
        </p:nvSpPr>
        <p:spPr>
          <a:xfrm>
            <a:off x="22320000" y="12600000"/>
            <a:ext cx="1259640" cy="719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9/13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0834920" cy="312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  <a:tabLst>
                <a:tab algn="l" pos="0"/>
              </a:tabLst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Экономическая составляющая</a:t>
            </a:r>
            <a:endParaRPr b="0" lang="ru-RU" sz="8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subTitle"/>
          </p:nvPr>
        </p:nvSpPr>
        <p:spPr>
          <a:xfrm>
            <a:off x="1207800" y="5107320"/>
            <a:ext cx="11211840" cy="299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Весь проект написан программным кодом, который является умственным трудом, но не материальными затратами, однако, если учитывать 1 человеко/час начинающего программиста равным 300 рублям, то общая сумма складывается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120 час * 500 руб = 60 000 руб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Аннотация к проекту (печать) = 200 руб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000" strike="noStrike" u="none">
                <a:solidFill>
                  <a:schemeClr val="lt1"/>
                </a:solidFill>
                <a:uFillTx/>
                <a:latin typeface="Tahoma"/>
              </a:rPr>
              <a:t>Итого: 60 200 рублей</a:t>
            </a:r>
            <a:endParaRPr b="0" lang="ru-RU" sz="4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dt" idx="40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2400" strike="noStrike" u="none">
                <a:solidFill>
                  <a:schemeClr val="lt1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lt1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ffffff"/>
              </a:solidFill>
              <a:uFillTx/>
              <a:latin typeface="Times New Roman"/>
            </a:endParaRPr>
          </a:p>
        </p:txBody>
      </p:sp>
      <p:grpSp>
        <p:nvGrpSpPr>
          <p:cNvPr id="182" name="Группа 9"/>
          <p:cNvGrpSpPr/>
          <p:nvPr/>
        </p:nvGrpSpPr>
        <p:grpSpPr>
          <a:xfrm>
            <a:off x="13608360" y="21960"/>
            <a:ext cx="10339920" cy="2801520"/>
            <a:chOff x="13608360" y="21960"/>
            <a:chExt cx="10339920" cy="2801520"/>
          </a:xfrm>
        </p:grpSpPr>
        <p:pic>
          <p:nvPicPr>
            <p:cNvPr id="183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4720" cy="1051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84" name="Рисунок 16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480" cy="207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85" name="Рисунок 17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520" cy="2801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6" name=""/>
          <p:cNvSpPr/>
          <p:nvPr/>
        </p:nvSpPr>
        <p:spPr>
          <a:xfrm>
            <a:off x="22320000" y="12600000"/>
            <a:ext cx="1259640" cy="719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10/13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Прямоугольник 14"/>
          <p:cNvSpPr/>
          <p:nvPr/>
        </p:nvSpPr>
        <p:spPr>
          <a:xfrm>
            <a:off x="0" y="0"/>
            <a:ext cx="24381720" cy="493704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7296120" cy="1208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  <a:tabLst>
                <a:tab algn="l" pos="0"/>
              </a:tabLst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Заключение</a:t>
            </a:r>
            <a:endParaRPr b="0" lang="ru-RU" sz="8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 type="dt" idx="41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0" name="Заголовок 1"/>
          <p:cNvSpPr/>
          <p:nvPr/>
        </p:nvSpPr>
        <p:spPr>
          <a:xfrm>
            <a:off x="1298520" y="3372840"/>
            <a:ext cx="19640520" cy="101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1828800">
              <a:lnSpc>
                <a:spcPts val="7699"/>
              </a:lnSpc>
            </a:pPr>
            <a:endParaRPr b="0" lang="ru-RU" sz="60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grpSp>
        <p:nvGrpSpPr>
          <p:cNvPr id="191" name="Группа 16"/>
          <p:cNvGrpSpPr/>
          <p:nvPr/>
        </p:nvGrpSpPr>
        <p:grpSpPr>
          <a:xfrm>
            <a:off x="13608360" y="21960"/>
            <a:ext cx="10339920" cy="2801520"/>
            <a:chOff x="13608360" y="21960"/>
            <a:chExt cx="10339920" cy="2801520"/>
          </a:xfrm>
        </p:grpSpPr>
        <p:pic>
          <p:nvPicPr>
            <p:cNvPr id="192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4720" cy="1051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3" name="Рисунок 18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480" cy="207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94" name="Рисунок 1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520" cy="2801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95" name=""/>
          <p:cNvSpPr/>
          <p:nvPr/>
        </p:nvSpPr>
        <p:spPr>
          <a:xfrm>
            <a:off x="22320000" y="12600000"/>
            <a:ext cx="1259640" cy="719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11/13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1620000" y="6480000"/>
            <a:ext cx="13859640" cy="44996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Несмотря на текущие трудности с заполнением базы данных, удалось разработать функциональный веб-приложение с интуитивно понятным интерфейсом, привлекательным дизайном и интеграцией современных технологий. 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Проект демонстрирует потенциал для дальнейшего развития, включая добавление новых функций, расширение каталога товаров и улучшение взаимодействия с пользователями. В дальнейшем важно сосредоточиться на заполнении базы данных и привлечении заказчиков для успешного запуска и масштабирования платформы.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16740000" y="5940000"/>
            <a:ext cx="5579640" cy="323964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Итог проекта "Сайт Велосборщик" состоит в создании интернет-платформы, позволяющей пользователям легко и удобно настраивать индивидуальные велосипеды, получая доступ к широкому выбору компонентов и информации о них. 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Прямоугольник 14"/>
          <p:cNvSpPr/>
          <p:nvPr/>
        </p:nvSpPr>
        <p:spPr>
          <a:xfrm>
            <a:off x="0" y="0"/>
            <a:ext cx="24381720" cy="493704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1828800"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298520" y="2163960"/>
            <a:ext cx="12047040" cy="1208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1828800">
              <a:lnSpc>
                <a:spcPts val="7699"/>
              </a:lnSpc>
              <a:buNone/>
              <a:tabLst>
                <a:tab algn="l" pos="0"/>
              </a:tabLst>
            </a:pPr>
            <a:r>
              <a:rPr b="0" lang="ru-RU" sz="8600" strike="noStrike" u="none">
                <a:solidFill>
                  <a:schemeClr val="lt1"/>
                </a:solidFill>
                <a:uFillTx/>
                <a:latin typeface="Tahoma"/>
              </a:rPr>
              <a:t>Список используемой литературы</a:t>
            </a:r>
            <a:endParaRPr b="0" lang="ru-RU" sz="8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subTitle"/>
          </p:nvPr>
        </p:nvSpPr>
        <p:spPr>
          <a:xfrm>
            <a:off x="13987800" y="9360000"/>
            <a:ext cx="9951840" cy="2992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dt" idx="42"/>
          </p:nvPr>
        </p:nvSpPr>
        <p:spPr>
          <a:xfrm>
            <a:off x="1300320" y="11867040"/>
            <a:ext cx="3032640" cy="72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1828800">
              <a:lnSpc>
                <a:spcPct val="100000"/>
              </a:lnSpc>
              <a:buNone/>
              <a:tabLst>
                <a:tab algn="l" pos="0"/>
              </a:tabLst>
              <a:defRPr b="0" lang="ru-RU" sz="2400" strike="noStrike" u="none">
                <a:solidFill>
                  <a:srgbClr val="000000"/>
                </a:solidFill>
                <a:uFillTx/>
                <a:latin typeface="Tahoma"/>
              </a:defRPr>
            </a:lvl1pPr>
          </a:lstStyle>
          <a:p>
            <a:pPr indent="0" defTabSz="18288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Tahoma"/>
              </a:rPr>
              <a:t>Велосборщик</a:t>
            </a:r>
            <a:endParaRPr b="0" lang="ru-RU" sz="2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02" name="Заголовок 1"/>
          <p:cNvSpPr/>
          <p:nvPr/>
        </p:nvSpPr>
        <p:spPr>
          <a:xfrm>
            <a:off x="1298520" y="3372840"/>
            <a:ext cx="19640520" cy="101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1828800">
              <a:lnSpc>
                <a:spcPts val="7699"/>
              </a:lnSpc>
            </a:pPr>
            <a:endParaRPr b="0" lang="ru-RU" sz="60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grpSp>
        <p:nvGrpSpPr>
          <p:cNvPr id="203" name="Группа 16"/>
          <p:cNvGrpSpPr/>
          <p:nvPr/>
        </p:nvGrpSpPr>
        <p:grpSpPr>
          <a:xfrm>
            <a:off x="13608360" y="21960"/>
            <a:ext cx="10339920" cy="2801520"/>
            <a:chOff x="13608360" y="21960"/>
            <a:chExt cx="10339920" cy="2801520"/>
          </a:xfrm>
        </p:grpSpPr>
        <p:pic>
          <p:nvPicPr>
            <p:cNvPr id="204" name="Picture 2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4720" cy="1051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5" name="Рисунок 12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480" cy="207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6" name="Рисунок 9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520" cy="2801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07" name=""/>
          <p:cNvSpPr/>
          <p:nvPr/>
        </p:nvSpPr>
        <p:spPr>
          <a:xfrm>
            <a:off x="22320000" y="12600000"/>
            <a:ext cx="1259640" cy="719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12/13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4"/>
          <a:stretch/>
        </p:blipFill>
        <p:spPr>
          <a:xfrm>
            <a:off x="8460000" y="4992120"/>
            <a:ext cx="7739640" cy="7724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Прямоугольник 2"/>
          <p:cNvSpPr/>
          <p:nvPr/>
        </p:nvSpPr>
        <p:spPr>
          <a:xfrm>
            <a:off x="0" y="0"/>
            <a:ext cx="24381720" cy="2879640"/>
          </a:xfrm>
          <a:prstGeom prst="rect">
            <a:avLst/>
          </a:prstGeom>
          <a:solidFill>
            <a:srgbClr val="0541f0"/>
          </a:solidFill>
          <a:ln>
            <a:solidFill>
              <a:srgbClr val="0330b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36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sp>
        <p:nvSpPr>
          <p:cNvPr id="210" name="Заголовок 5"/>
          <p:cNvSpPr/>
          <p:nvPr/>
        </p:nvSpPr>
        <p:spPr>
          <a:xfrm>
            <a:off x="1298520" y="3372840"/>
            <a:ext cx="19640520" cy="101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6000" strike="noStrike" u="none">
              <a:solidFill>
                <a:schemeClr val="lt1"/>
              </a:solidFill>
              <a:uFillTx/>
              <a:latin typeface="Tahoma"/>
            </a:endParaRPr>
          </a:p>
        </p:txBody>
      </p:sp>
      <p:grpSp>
        <p:nvGrpSpPr>
          <p:cNvPr id="211" name="Группа 2"/>
          <p:cNvGrpSpPr/>
          <p:nvPr/>
        </p:nvGrpSpPr>
        <p:grpSpPr>
          <a:xfrm>
            <a:off x="13608360" y="21960"/>
            <a:ext cx="10339920" cy="2801520"/>
            <a:chOff x="13608360" y="21960"/>
            <a:chExt cx="10339920" cy="2801520"/>
          </a:xfrm>
        </p:grpSpPr>
        <p:pic>
          <p:nvPicPr>
            <p:cNvPr id="212" name="Picture 3" descr=""/>
            <p:cNvPicPr/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00000"/>
                      </a14:imgEffect>
                    </a14:imgLayer>
                  </a14:imgProps>
                </a:ext>
              </a:extLst>
            </a:blip>
            <a:stretch/>
          </p:blipFill>
          <p:spPr>
            <a:xfrm>
              <a:off x="19483560" y="775440"/>
              <a:ext cx="4464720" cy="1051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13" name="Рисунок 3" descr=""/>
            <p:cNvPicPr/>
            <p:nvPr/>
          </p:nvPicPr>
          <p:blipFill>
            <a:blip r:embed="rId2"/>
            <a:stretch/>
          </p:blipFill>
          <p:spPr>
            <a:xfrm>
              <a:off x="13608360" y="264600"/>
              <a:ext cx="2112480" cy="2073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14" name="Рисунок 4" descr=""/>
            <p:cNvPicPr/>
            <p:nvPr/>
          </p:nvPicPr>
          <p:blipFill>
            <a:blip r:embed="rId3"/>
            <a:stretch/>
          </p:blipFill>
          <p:spPr>
            <a:xfrm>
              <a:off x="16062120" y="21960"/>
              <a:ext cx="2801520" cy="2801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15" name=""/>
          <p:cNvSpPr/>
          <p:nvPr/>
        </p:nvSpPr>
        <p:spPr>
          <a:xfrm>
            <a:off x="0" y="2880000"/>
            <a:ext cx="24382080" cy="10835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7200" strike="noStrike" u="none">
                <a:solidFill>
                  <a:srgbClr val="000000"/>
                </a:solidFill>
                <a:uFillTx/>
                <a:latin typeface="Arial"/>
              </a:rPr>
              <a:t>Спасибо за внимание</a:t>
            </a:r>
            <a:endParaRPr b="0" lang="ru-RU" sz="7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Misis">
  <a:themeElements>
    <a:clrScheme name="MISIS">
      <a:dk1>
        <a:srgbClr val="000000"/>
      </a:dk1>
      <a:lt1>
        <a:srgbClr val="ffffff"/>
      </a:lt1>
      <a:dk2>
        <a:srgbClr val="505569"/>
      </a:dk2>
      <a:lt2>
        <a:srgbClr val="ffffff"/>
      </a:lt2>
      <a:accent1>
        <a:srgbClr val="0541f0"/>
      </a:accent1>
      <a:accent2>
        <a:srgbClr val="37ebff"/>
      </a:accent2>
      <a:accent3>
        <a:srgbClr val="505569"/>
      </a:accent3>
      <a:accent4>
        <a:srgbClr val="0541f0"/>
      </a:accent4>
      <a:accent5>
        <a:srgbClr val="0a1e64"/>
      </a:accent5>
      <a:accent6>
        <a:srgbClr val="0a1e64"/>
      </a:accent6>
      <a:hlink>
        <a:srgbClr val="00b5e2"/>
      </a:hlink>
      <a:folHlink>
        <a:srgbClr val="e4002b"/>
      </a:folHlink>
    </a:clrScheme>
    <a:fontScheme name="Другая 9">
      <a:majorFont>
        <a:latin typeface="Tahoma" pitchFamily="0" charset="1"/>
        <a:ea typeface=""/>
        <a:cs typeface=""/>
      </a:majorFont>
      <a:minorFont>
        <a:latin typeface="Tahom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1172</TotalTime>
  <Application>LibreOffice/24.8.4.2$Windows_X86_64 LibreOffice_project/bb3cfa12c7b1bf994ecc5649a80400d06cd71002</Application>
  <AppVersion>15.0000</AppVersion>
  <Words>102</Words>
  <Paragraphs>47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2022-07-26T11:52:44Z</dcterms:created>
  <dc:creator>ДД</dc:creator>
  <dc:description/>
  <dc:language>ru-RU</dc:language>
  <cp:lastModifiedBy/>
  <dcterms:modified xsi:type="dcterms:W3CDTF">2025-01-30T06:49:09Z</dcterms:modified>
  <cp:revision>135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Произвольный</vt:lpwstr>
  </property>
  <property fmtid="{D5CDD505-2E9C-101B-9397-08002B2CF9AE}" pid="3" name="Slides">
    <vt:i4>13</vt:i4>
  </property>
</Properties>
</file>